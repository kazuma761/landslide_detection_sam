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40" d="100"/>
          <a:sy n="40" d="100"/>
        </p:scale>
        <p:origin x="-880" y="-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CA2A0-811E-4064-B01C-578DC81AF6F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1CFC2-75FD-4DFA-9FB7-B6F31F66F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01CFC2-75FD-4DFA-9FB7-B6F31F66F2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5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485900"/>
            <a:ext cx="16459200" cy="17145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259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50266C5-369E-6993-7C5B-4729379CB6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" y="9791700"/>
            <a:ext cx="4206240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09661390-5CBD-405C-8DD0-69BC24CAAF9C}" type="datetime3">
              <a:rPr lang="en-US" smtClean="0"/>
              <a:t>16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C9EFA4A-25A3-3FEA-FDD8-B17617A1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0" y="9791700"/>
            <a:ext cx="5852160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smtClean="0"/>
              <a:t>ETCC 2026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2338AD-34A9-C3F1-A51E-8B5F07D3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82600" y="9791700"/>
            <a:ext cx="4206240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91D01E4A-608F-4ADE-886B-FA984A8E6BB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F683077E-A3F3-7A14-00E8-8B93C3640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59000"/>
            <a:ext cx="17526000" cy="4924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D2CFC4EA-BC7F-241A-EBF3-7FF8A7BB5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619500"/>
            <a:ext cx="17526000" cy="56388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2591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3B54C8D-F2C1-F143-F113-EBDA85F5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9867900"/>
            <a:ext cx="4206240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55907155-F585-45AA-9AEA-7F03E0517C8D}" type="datetime3">
              <a:rPr lang="en-US" smtClean="0"/>
              <a:t>16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8B9D15-EA6F-2FE4-F39B-025617E54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0" y="9867900"/>
            <a:ext cx="5852160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algn="ctr"/>
            <a:r>
              <a:rPr lang="en-US" dirty="0" smtClean="0"/>
              <a:t>ETCC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8DA521-24C4-8F6E-6E43-EB643E78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82600" y="9867900"/>
            <a:ext cx="4206240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algn="r"/>
            <a:fld id="{91D01E4A-608F-4ADE-886B-FA984A8E6BB8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CA60CD13-8A4C-778C-5A30-C227EC83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006600"/>
            <a:ext cx="17602200" cy="4924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CFD7DF03-70EB-5ECF-D790-822F252DE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2933700"/>
            <a:ext cx="8229600" cy="64008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8899C951-500D-6A47-90A2-3A5497DFF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77400" y="2933700"/>
            <a:ext cx="8229600" cy="64008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118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353B52-F384-4CAC-1386-BA0D6D5A0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019300"/>
            <a:ext cx="17602200" cy="9848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C10DB59-5AA0-5AC7-559B-9B6B0202CB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ETCC 2026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984AC1-F872-03E3-687E-88E3EBAEDEE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/>
          <a:lstStyle/>
          <a:p>
            <a:fld id="{9957CCA9-2169-4701-AA2C-F35E5798F1DA}" type="datetime3">
              <a:rPr lang="en-US" smtClean="0"/>
              <a:t>16 July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58EF78F-CA81-B36C-F66D-BA1D28D24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7361" y="9566910"/>
            <a:ext cx="4206240" cy="276999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61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6.png"/><Relationship Id="rId5" Type="http://schemas.openxmlformats.org/officeDocument/2006/relationships/theme" Target="../theme/theme1.xm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pic>
        <p:nvPicPr>
          <p:cNvPr id="8" name="bg object 17">
            <a:extLst>
              <a:ext uri="{FF2B5EF4-FFF2-40B4-BE49-F238E27FC236}">
                <a16:creationId xmlns:a16="http://schemas.microsoft.com/office/drawing/2014/main" xmlns="" id="{BECE25B7-1515-AE43-8ACC-3FDD9101CECA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13369397" y="255739"/>
            <a:ext cx="2285999" cy="1352549"/>
          </a:xfrm>
          <a:prstGeom prst="rect">
            <a:avLst/>
          </a:prstGeom>
        </p:spPr>
      </p:pic>
      <p:pic>
        <p:nvPicPr>
          <p:cNvPr id="9" name="bg object 18">
            <a:extLst>
              <a:ext uri="{FF2B5EF4-FFF2-40B4-BE49-F238E27FC236}">
                <a16:creationId xmlns:a16="http://schemas.microsoft.com/office/drawing/2014/main" xmlns="" id="{84B55898-82FB-33BE-6E89-7504E1276730}"/>
              </a:ext>
            </a:extLst>
          </p:cNvPr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6353787" y="332373"/>
            <a:ext cx="5095874" cy="1304924"/>
          </a:xfrm>
          <a:prstGeom prst="rect">
            <a:avLst/>
          </a:prstGeom>
        </p:spPr>
      </p:pic>
      <p:pic>
        <p:nvPicPr>
          <p:cNvPr id="10" name="bg object 19">
            <a:extLst>
              <a:ext uri="{FF2B5EF4-FFF2-40B4-BE49-F238E27FC236}">
                <a16:creationId xmlns:a16="http://schemas.microsoft.com/office/drawing/2014/main" xmlns="" id="{1064785A-6B37-BE16-938A-542FB3DEB41A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5777874" y="147705"/>
            <a:ext cx="2510126" cy="1571624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xmlns="" id="{85DAE55E-B996-77B2-6FFD-C23CE9812DD6}"/>
              </a:ext>
            </a:extLst>
          </p:cNvPr>
          <p:cNvSpPr txBox="1">
            <a:spLocks/>
          </p:cNvSpPr>
          <p:nvPr userDrawn="1"/>
        </p:nvSpPr>
        <p:spPr>
          <a:xfrm>
            <a:off x="1619818" y="84532"/>
            <a:ext cx="4335781" cy="1163395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650"/>
              </a:spcBef>
            </a:pPr>
            <a:r>
              <a:rPr lang="en-US" spc="345" dirty="0"/>
              <a:t>IEEE</a:t>
            </a:r>
            <a:r>
              <a:rPr lang="en-US" spc="150" dirty="0"/>
              <a:t> </a:t>
            </a:r>
            <a:r>
              <a:rPr lang="en-US" spc="425" dirty="0"/>
              <a:t>ETECOM</a:t>
            </a:r>
            <a:r>
              <a:rPr lang="en-US" spc="155" dirty="0"/>
              <a:t> </a:t>
            </a:r>
            <a:r>
              <a:rPr lang="en-US" b="0" spc="-20" dirty="0">
                <a:latin typeface="Times New Roman"/>
                <a:cs typeface="Times New Roman"/>
              </a:rPr>
              <a:t>2025</a:t>
            </a:r>
          </a:p>
          <a:p>
            <a:pPr marL="24130" marR="5080">
              <a:lnSpc>
                <a:spcPct val="106900"/>
              </a:lnSpc>
              <a:spcBef>
                <a:spcPts val="505"/>
              </a:spcBef>
            </a:pPr>
            <a:r>
              <a:rPr lang="en-US" sz="1200" b="0" dirty="0">
                <a:latin typeface="Times New Roman"/>
                <a:cs typeface="Times New Roman"/>
              </a:rPr>
              <a:t>IEEE</a:t>
            </a:r>
            <a:r>
              <a:rPr lang="en-US" sz="1200" b="0" spc="105" dirty="0">
                <a:latin typeface="Times New Roman"/>
                <a:cs typeface="Times New Roman"/>
              </a:rPr>
              <a:t> </a:t>
            </a:r>
            <a:r>
              <a:rPr lang="en-US" sz="1200" b="0" dirty="0" smtClean="0">
                <a:latin typeface="Times New Roman"/>
                <a:cs typeface="Times New Roman"/>
              </a:rPr>
              <a:t>INTENATIONAL</a:t>
            </a:r>
            <a:r>
              <a:rPr lang="en-US" sz="1200" b="0" spc="40" dirty="0" smtClean="0">
                <a:latin typeface="Times New Roman"/>
                <a:cs typeface="Times New Roman"/>
              </a:rPr>
              <a:t> </a:t>
            </a:r>
            <a:r>
              <a:rPr lang="en-US" sz="1200" b="0" dirty="0">
                <a:latin typeface="Times New Roman"/>
                <a:cs typeface="Times New Roman"/>
              </a:rPr>
              <a:t>CONFERENCE</a:t>
            </a:r>
            <a:r>
              <a:rPr lang="en-US" sz="1200" b="0" spc="105" dirty="0">
                <a:latin typeface="Times New Roman"/>
                <a:cs typeface="Times New Roman"/>
              </a:rPr>
              <a:t> </a:t>
            </a:r>
            <a:r>
              <a:rPr lang="en-US" sz="1200" b="0" dirty="0">
                <a:latin typeface="Times New Roman"/>
                <a:cs typeface="Times New Roman"/>
              </a:rPr>
              <a:t>ON</a:t>
            </a:r>
            <a:r>
              <a:rPr lang="en-US" sz="1200" b="0" spc="105" dirty="0">
                <a:latin typeface="Times New Roman"/>
                <a:cs typeface="Times New Roman"/>
              </a:rPr>
              <a:t> </a:t>
            </a:r>
            <a:r>
              <a:rPr lang="en-US" sz="1200" b="0" dirty="0">
                <a:latin typeface="Times New Roman"/>
                <a:cs typeface="Times New Roman"/>
              </a:rPr>
              <a:t>EMERGING</a:t>
            </a:r>
            <a:r>
              <a:rPr lang="en-US" sz="1200" b="0" spc="80" dirty="0">
                <a:latin typeface="Times New Roman"/>
                <a:cs typeface="Times New Roman"/>
              </a:rPr>
              <a:t> </a:t>
            </a:r>
            <a:r>
              <a:rPr lang="en-US" sz="1200" b="0" spc="-10" dirty="0">
                <a:latin typeface="Times New Roman"/>
                <a:cs typeface="Times New Roman"/>
              </a:rPr>
              <a:t>TRENDS </a:t>
            </a:r>
            <a:r>
              <a:rPr lang="en-US" sz="1200" b="0" dirty="0">
                <a:latin typeface="Times New Roman"/>
                <a:cs typeface="Times New Roman"/>
              </a:rPr>
              <a:t>IN</a:t>
            </a:r>
            <a:r>
              <a:rPr lang="en-US" sz="1200" b="0" spc="95" dirty="0">
                <a:latin typeface="Times New Roman"/>
                <a:cs typeface="Times New Roman"/>
              </a:rPr>
              <a:t> </a:t>
            </a:r>
            <a:r>
              <a:rPr lang="en-US" sz="1200" b="0" dirty="0">
                <a:latin typeface="Times New Roman"/>
                <a:cs typeface="Times New Roman"/>
              </a:rPr>
              <a:t>ENGINEERING</a:t>
            </a:r>
            <a:r>
              <a:rPr lang="en-US" sz="1200" b="0" spc="10" dirty="0">
                <a:latin typeface="Times New Roman"/>
                <a:cs typeface="Times New Roman"/>
              </a:rPr>
              <a:t> </a:t>
            </a:r>
            <a:r>
              <a:rPr lang="en-US" sz="1200" b="0" dirty="0">
                <a:latin typeface="Times New Roman"/>
                <a:cs typeface="Times New Roman"/>
              </a:rPr>
              <a:t>AND</a:t>
            </a:r>
            <a:r>
              <a:rPr lang="en-US" sz="1200" b="0" spc="100" dirty="0">
                <a:latin typeface="Times New Roman"/>
                <a:cs typeface="Times New Roman"/>
              </a:rPr>
              <a:t> </a:t>
            </a:r>
            <a:r>
              <a:rPr lang="en-US" sz="1200" b="0" spc="-10" dirty="0">
                <a:latin typeface="Times New Roman"/>
                <a:cs typeface="Times New Roman"/>
              </a:rPr>
              <a:t>COMPUTING</a:t>
            </a:r>
            <a:endParaRPr lang="en-US" sz="1200" dirty="0">
              <a:latin typeface="Times New Roman"/>
              <a:cs typeface="Times New Roman"/>
            </a:endParaRPr>
          </a:p>
        </p:txBody>
      </p:sp>
      <p:grpSp>
        <p:nvGrpSpPr>
          <p:cNvPr id="12" name="object 3">
            <a:extLst>
              <a:ext uri="{FF2B5EF4-FFF2-40B4-BE49-F238E27FC236}">
                <a16:creationId xmlns:a16="http://schemas.microsoft.com/office/drawing/2014/main" xmlns="" id="{D2EB547E-D733-BF3D-4AA9-E94234CCBEA2}"/>
              </a:ext>
            </a:extLst>
          </p:cNvPr>
          <p:cNvGrpSpPr/>
          <p:nvPr userDrawn="1"/>
        </p:nvGrpSpPr>
        <p:grpSpPr>
          <a:xfrm>
            <a:off x="134811" y="17848"/>
            <a:ext cx="1340485" cy="1541145"/>
            <a:chOff x="134811" y="17848"/>
            <a:chExt cx="1340485" cy="1541145"/>
          </a:xfrm>
        </p:grpSpPr>
        <p:sp>
          <p:nvSpPr>
            <p:cNvPr id="13" name="object 4">
              <a:extLst>
                <a:ext uri="{FF2B5EF4-FFF2-40B4-BE49-F238E27FC236}">
                  <a16:creationId xmlns:a16="http://schemas.microsoft.com/office/drawing/2014/main" xmlns="" id="{26780CB0-90B0-0B57-4478-5EAE757EF7F9}"/>
                </a:ext>
              </a:extLst>
            </p:cNvPr>
            <p:cNvSpPr/>
            <p:nvPr/>
          </p:nvSpPr>
          <p:spPr>
            <a:xfrm>
              <a:off x="151248" y="685599"/>
              <a:ext cx="654050" cy="177800"/>
            </a:xfrm>
            <a:custGeom>
              <a:avLst/>
              <a:gdLst/>
              <a:ahLst/>
              <a:cxnLst/>
              <a:rect l="l" t="t" r="r" b="b"/>
              <a:pathLst>
                <a:path w="654050" h="177800">
                  <a:moveTo>
                    <a:pt x="0" y="0"/>
                  </a:moveTo>
                  <a:lnTo>
                    <a:pt x="243639" y="177636"/>
                  </a:lnTo>
                  <a:lnTo>
                    <a:pt x="395376" y="177636"/>
                  </a:lnTo>
                  <a:lnTo>
                    <a:pt x="653771" y="0"/>
                  </a:lnTo>
                </a:path>
              </a:pathLst>
            </a:custGeom>
            <a:ln w="328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5">
              <a:extLst>
                <a:ext uri="{FF2B5EF4-FFF2-40B4-BE49-F238E27FC236}">
                  <a16:creationId xmlns:a16="http://schemas.microsoft.com/office/drawing/2014/main" xmlns="" id="{43BC0F28-5FF8-E766-B7F7-9424D9652B0D}"/>
                </a:ext>
              </a:extLst>
            </p:cNvPr>
            <p:cNvSpPr/>
            <p:nvPr/>
          </p:nvSpPr>
          <p:spPr>
            <a:xfrm>
              <a:off x="151248" y="907611"/>
              <a:ext cx="365125" cy="189865"/>
            </a:xfrm>
            <a:custGeom>
              <a:avLst/>
              <a:gdLst/>
              <a:ahLst/>
              <a:cxnLst/>
              <a:rect l="l" t="t" r="r" b="b"/>
              <a:pathLst>
                <a:path w="365125" h="189865">
                  <a:moveTo>
                    <a:pt x="0" y="0"/>
                  </a:moveTo>
                  <a:lnTo>
                    <a:pt x="243639" y="189728"/>
                  </a:lnTo>
                  <a:lnTo>
                    <a:pt x="365071" y="189728"/>
                  </a:lnTo>
                </a:path>
              </a:pathLst>
            </a:custGeom>
            <a:ln w="328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6">
              <a:extLst>
                <a:ext uri="{FF2B5EF4-FFF2-40B4-BE49-F238E27FC236}">
                  <a16:creationId xmlns:a16="http://schemas.microsoft.com/office/drawing/2014/main" xmlns="" id="{1B43A621-1249-5236-02EF-2DBEB07FF254}"/>
                </a:ext>
              </a:extLst>
            </p:cNvPr>
            <p:cNvSpPr/>
            <p:nvPr/>
          </p:nvSpPr>
          <p:spPr>
            <a:xfrm>
              <a:off x="805023" y="957543"/>
              <a:ext cx="283845" cy="312420"/>
            </a:xfrm>
            <a:custGeom>
              <a:avLst/>
              <a:gdLst/>
              <a:ahLst/>
              <a:cxnLst/>
              <a:rect l="l" t="t" r="r" b="b"/>
              <a:pathLst>
                <a:path w="283844" h="312419">
                  <a:moveTo>
                    <a:pt x="0" y="312254"/>
                  </a:moveTo>
                  <a:lnTo>
                    <a:pt x="283826" y="151887"/>
                  </a:lnTo>
                  <a:lnTo>
                    <a:pt x="283826" y="0"/>
                  </a:lnTo>
                </a:path>
              </a:pathLst>
            </a:custGeom>
            <a:ln w="328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7">
              <a:extLst>
                <a:ext uri="{FF2B5EF4-FFF2-40B4-BE49-F238E27FC236}">
                  <a16:creationId xmlns:a16="http://schemas.microsoft.com/office/drawing/2014/main" xmlns="" id="{47EB25D4-05D1-6651-C6B0-137DFC54BC5D}"/>
                </a:ext>
              </a:extLst>
            </p:cNvPr>
            <p:cNvSpPr/>
            <p:nvPr/>
          </p:nvSpPr>
          <p:spPr>
            <a:xfrm>
              <a:off x="1033945" y="601227"/>
              <a:ext cx="252729" cy="650240"/>
            </a:xfrm>
            <a:custGeom>
              <a:avLst/>
              <a:gdLst/>
              <a:ahLst/>
              <a:cxnLst/>
              <a:rect l="l" t="t" r="r" b="b"/>
              <a:pathLst>
                <a:path w="252730" h="650240">
                  <a:moveTo>
                    <a:pt x="252670" y="649639"/>
                  </a:moveTo>
                  <a:lnTo>
                    <a:pt x="252670" y="163399"/>
                  </a:lnTo>
                  <a:lnTo>
                    <a:pt x="0" y="0"/>
                  </a:lnTo>
                </a:path>
              </a:pathLst>
            </a:custGeom>
            <a:ln w="328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8">
              <a:extLst>
                <a:ext uri="{FF2B5EF4-FFF2-40B4-BE49-F238E27FC236}">
                  <a16:creationId xmlns:a16="http://schemas.microsoft.com/office/drawing/2014/main" xmlns="" id="{6EEB9581-AFD0-52DA-6392-BEE7570455D0}"/>
                </a:ext>
              </a:extLst>
            </p:cNvPr>
            <p:cNvSpPr/>
            <p:nvPr/>
          </p:nvSpPr>
          <p:spPr>
            <a:xfrm>
              <a:off x="451072" y="371233"/>
              <a:ext cx="354330" cy="220979"/>
            </a:xfrm>
            <a:custGeom>
              <a:avLst/>
              <a:gdLst/>
              <a:ahLst/>
              <a:cxnLst/>
              <a:rect l="l" t="t" r="r" b="b"/>
              <a:pathLst>
                <a:path w="354330" h="220979">
                  <a:moveTo>
                    <a:pt x="353951" y="0"/>
                  </a:moveTo>
                  <a:lnTo>
                    <a:pt x="0" y="220809"/>
                  </a:lnTo>
                </a:path>
              </a:pathLst>
            </a:custGeom>
            <a:ln w="328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9">
              <a:extLst>
                <a:ext uri="{FF2B5EF4-FFF2-40B4-BE49-F238E27FC236}">
                  <a16:creationId xmlns:a16="http://schemas.microsoft.com/office/drawing/2014/main" xmlns="" id="{974BB10D-218F-4C34-451D-3D9B445DF726}"/>
                </a:ext>
              </a:extLst>
            </p:cNvPr>
            <p:cNvSpPr/>
            <p:nvPr/>
          </p:nvSpPr>
          <p:spPr>
            <a:xfrm>
              <a:off x="805023" y="34273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h="332105">
                  <a:moveTo>
                    <a:pt x="0" y="0"/>
                  </a:moveTo>
                  <a:lnTo>
                    <a:pt x="0" y="332015"/>
                  </a:lnTo>
                </a:path>
              </a:pathLst>
            </a:custGeom>
            <a:ln w="3287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xmlns="" id="{96A610CC-066D-9F15-F3F2-6D628931AF54}"/>
                </a:ext>
              </a:extLst>
            </p:cNvPr>
            <p:cNvSpPr/>
            <p:nvPr/>
          </p:nvSpPr>
          <p:spPr>
            <a:xfrm>
              <a:off x="805023" y="290481"/>
              <a:ext cx="654050" cy="1252220"/>
            </a:xfrm>
            <a:custGeom>
              <a:avLst/>
              <a:gdLst/>
              <a:ahLst/>
              <a:cxnLst/>
              <a:rect l="l" t="t" r="r" b="b"/>
              <a:pathLst>
                <a:path w="654050" h="1252220">
                  <a:moveTo>
                    <a:pt x="0" y="617129"/>
                  </a:moveTo>
                  <a:lnTo>
                    <a:pt x="0" y="1251838"/>
                  </a:lnTo>
                  <a:lnTo>
                    <a:pt x="653771" y="874834"/>
                  </a:lnTo>
                  <a:lnTo>
                    <a:pt x="653771" y="120806"/>
                  </a:lnTo>
                  <a:lnTo>
                    <a:pt x="444266" y="0"/>
                  </a:lnTo>
                  <a:lnTo>
                    <a:pt x="444266" y="171455"/>
                  </a:lnTo>
                </a:path>
              </a:pathLst>
            </a:custGeom>
            <a:ln w="328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1">
              <a:extLst>
                <a:ext uri="{FF2B5EF4-FFF2-40B4-BE49-F238E27FC236}">
                  <a16:creationId xmlns:a16="http://schemas.microsoft.com/office/drawing/2014/main" xmlns="" id="{15E9F3BF-E072-9CC8-D3FD-52AF97F86B04}"/>
                </a:ext>
              </a:extLst>
            </p:cNvPr>
            <p:cNvSpPr/>
            <p:nvPr/>
          </p:nvSpPr>
          <p:spPr>
            <a:xfrm>
              <a:off x="151244" y="34280"/>
              <a:ext cx="862330" cy="1292860"/>
            </a:xfrm>
            <a:custGeom>
              <a:avLst/>
              <a:gdLst/>
              <a:ahLst/>
              <a:cxnLst/>
              <a:rect l="l" t="t" r="r" b="b"/>
              <a:pathLst>
                <a:path w="862330" h="1292860">
                  <a:moveTo>
                    <a:pt x="195212" y="1292712"/>
                  </a:moveTo>
                  <a:lnTo>
                    <a:pt x="0" y="1131031"/>
                  </a:lnTo>
                  <a:lnTo>
                    <a:pt x="0" y="377004"/>
                  </a:lnTo>
                  <a:lnTo>
                    <a:pt x="653771" y="0"/>
                  </a:lnTo>
                  <a:lnTo>
                    <a:pt x="861826" y="119956"/>
                  </a:lnTo>
                </a:path>
              </a:pathLst>
            </a:custGeom>
            <a:ln w="328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2">
              <a:extLst>
                <a:ext uri="{FF2B5EF4-FFF2-40B4-BE49-F238E27FC236}">
                  <a16:creationId xmlns:a16="http://schemas.microsoft.com/office/drawing/2014/main" xmlns="" id="{CB55BDDA-C17E-E990-A312-EB18DAAA3D1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8852" y="851502"/>
              <a:ext cx="112362" cy="112229"/>
            </a:xfrm>
            <a:prstGeom prst="rect">
              <a:avLst/>
            </a:prstGeom>
          </p:spPr>
        </p:pic>
        <p:pic>
          <p:nvPicPr>
            <p:cNvPr id="22" name="object 13">
              <a:extLst>
                <a:ext uri="{FF2B5EF4-FFF2-40B4-BE49-F238E27FC236}">
                  <a16:creationId xmlns:a16="http://schemas.microsoft.com/office/drawing/2014/main" xmlns="" id="{A72A8F24-A5A8-573E-0728-71185281328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4881" y="535945"/>
              <a:ext cx="112381" cy="112229"/>
            </a:xfrm>
            <a:prstGeom prst="rect">
              <a:avLst/>
            </a:prstGeom>
          </p:spPr>
        </p:pic>
        <p:pic>
          <p:nvPicPr>
            <p:cNvPr id="23" name="object 14">
              <a:extLst>
                <a:ext uri="{FF2B5EF4-FFF2-40B4-BE49-F238E27FC236}">
                  <a16:creationId xmlns:a16="http://schemas.microsoft.com/office/drawing/2014/main" xmlns="" id="{3AF132D0-00A6-2A60-BD0B-4F3A3CF182B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8852" y="315116"/>
              <a:ext cx="112362" cy="112229"/>
            </a:xfrm>
            <a:prstGeom prst="rect">
              <a:avLst/>
            </a:prstGeom>
          </p:spPr>
        </p:pic>
        <p:pic>
          <p:nvPicPr>
            <p:cNvPr id="24" name="object 15">
              <a:extLst>
                <a:ext uri="{FF2B5EF4-FFF2-40B4-BE49-F238E27FC236}">
                  <a16:creationId xmlns:a16="http://schemas.microsoft.com/office/drawing/2014/main" xmlns="" id="{453B31FE-B779-19EB-6250-FF68B74D5261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1176" y="545120"/>
              <a:ext cx="112381" cy="112229"/>
            </a:xfrm>
            <a:prstGeom prst="rect">
              <a:avLst/>
            </a:prstGeom>
          </p:spPr>
        </p:pic>
        <p:pic>
          <p:nvPicPr>
            <p:cNvPr id="25" name="object 16">
              <a:extLst>
                <a:ext uri="{FF2B5EF4-FFF2-40B4-BE49-F238E27FC236}">
                  <a16:creationId xmlns:a16="http://schemas.microsoft.com/office/drawing/2014/main" xmlns="" id="{6546750E-420E-4351-CE59-68861708743C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8852" y="624512"/>
              <a:ext cx="112362" cy="112230"/>
            </a:xfrm>
            <a:prstGeom prst="rect">
              <a:avLst/>
            </a:prstGeom>
          </p:spPr>
        </p:pic>
        <p:pic>
          <p:nvPicPr>
            <p:cNvPr id="26" name="object 17">
              <a:extLst>
                <a:ext uri="{FF2B5EF4-FFF2-40B4-BE49-F238E27FC236}">
                  <a16:creationId xmlns:a16="http://schemas.microsoft.com/office/drawing/2014/main" xmlns="" id="{2961766F-18F2-B7E5-C82D-C0255FE0E132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7754" y="114551"/>
              <a:ext cx="112381" cy="112229"/>
            </a:xfrm>
            <a:prstGeom prst="rect">
              <a:avLst/>
            </a:prstGeom>
          </p:spPr>
        </p:pic>
        <p:pic>
          <p:nvPicPr>
            <p:cNvPr id="27" name="object 18">
              <a:extLst>
                <a:ext uri="{FF2B5EF4-FFF2-40B4-BE49-F238E27FC236}">
                  <a16:creationId xmlns:a16="http://schemas.microsoft.com/office/drawing/2014/main" xmlns="" id="{351B2D52-3F71-D0D8-0188-CBD9CA1E5F9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90546" y="414385"/>
              <a:ext cx="112362" cy="112229"/>
            </a:xfrm>
            <a:prstGeom prst="rect">
              <a:avLst/>
            </a:prstGeom>
          </p:spPr>
        </p:pic>
        <p:pic>
          <p:nvPicPr>
            <p:cNvPr id="28" name="object 19">
              <a:extLst>
                <a:ext uri="{FF2B5EF4-FFF2-40B4-BE49-F238E27FC236}">
                  <a16:creationId xmlns:a16="http://schemas.microsoft.com/office/drawing/2014/main" xmlns="" id="{C344271B-EDC1-69BC-7C35-8F05F2994EA9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7487" y="1286012"/>
              <a:ext cx="112362" cy="112230"/>
            </a:xfrm>
            <a:prstGeom prst="rect">
              <a:avLst/>
            </a:prstGeom>
          </p:spPr>
        </p:pic>
        <p:pic>
          <p:nvPicPr>
            <p:cNvPr id="29" name="object 20">
              <a:extLst>
                <a:ext uri="{FF2B5EF4-FFF2-40B4-BE49-F238E27FC236}">
                  <a16:creationId xmlns:a16="http://schemas.microsoft.com/office/drawing/2014/main" xmlns="" id="{B149FA60-8B8F-2D91-290E-21AD7FEF6500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0132" y="1041212"/>
              <a:ext cx="112381" cy="112249"/>
            </a:xfrm>
            <a:prstGeom prst="rect">
              <a:avLst/>
            </a:prstGeom>
          </p:spPr>
        </p:pic>
        <p:pic>
          <p:nvPicPr>
            <p:cNvPr id="30" name="object 21">
              <a:extLst>
                <a:ext uri="{FF2B5EF4-FFF2-40B4-BE49-F238E27FC236}">
                  <a16:creationId xmlns:a16="http://schemas.microsoft.com/office/drawing/2014/main" xmlns="" id="{F70CC209-762A-7AE5-211B-CC475DD3539A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2659" y="890039"/>
              <a:ext cx="112381" cy="112229"/>
            </a:xfrm>
            <a:prstGeom prst="rect">
              <a:avLst/>
            </a:prstGeom>
          </p:spPr>
        </p:pic>
      </p:grp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41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7" r:id="rId2"/>
    <p:sldLayoutId id="2147483669" r:id="rId3"/>
    <p:sldLayoutId id="2147483666" r:id="rId4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/>
          <p:nvPr/>
        </p:nvSpPr>
        <p:spPr>
          <a:xfrm>
            <a:off x="11507253" y="1866900"/>
            <a:ext cx="6774815" cy="14712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algn="ctr">
              <a:lnSpc>
                <a:spcPts val="2550"/>
              </a:lnSpc>
              <a:spcBef>
                <a:spcPts val="85"/>
              </a:spcBef>
            </a:pPr>
            <a:r>
              <a:rPr sz="2000" b="1" spc="65" dirty="0">
                <a:solidFill>
                  <a:srgbClr val="001B72"/>
                </a:solidFill>
                <a:latin typeface="Tahoma"/>
                <a:cs typeface="Tahoma"/>
              </a:rPr>
              <a:t>2025</a:t>
            </a:r>
            <a:r>
              <a:rPr sz="2000" b="1" spc="295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2000" b="1" spc="120" dirty="0">
                <a:solidFill>
                  <a:srgbClr val="001B72"/>
                </a:solidFill>
                <a:latin typeface="Tahoma"/>
                <a:cs typeface="Tahoma"/>
              </a:rPr>
              <a:t>IEEE</a:t>
            </a:r>
            <a:r>
              <a:rPr sz="2000" b="1" spc="295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2000" b="1" spc="165" dirty="0">
                <a:solidFill>
                  <a:srgbClr val="001B72"/>
                </a:solidFill>
                <a:latin typeface="Tahoma"/>
                <a:cs typeface="Tahoma"/>
              </a:rPr>
              <a:t>INTERNATIONAL</a:t>
            </a:r>
            <a:r>
              <a:rPr sz="2000" b="1" spc="300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2000" b="1" spc="245" dirty="0">
                <a:solidFill>
                  <a:srgbClr val="001B72"/>
                </a:solidFill>
                <a:latin typeface="Tahoma"/>
                <a:cs typeface="Tahoma"/>
              </a:rPr>
              <a:t>CONFERENCE</a:t>
            </a:r>
            <a:r>
              <a:rPr sz="2000" b="1" spc="295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2000" b="1" spc="175" dirty="0">
                <a:solidFill>
                  <a:srgbClr val="001B72"/>
                </a:solidFill>
                <a:latin typeface="Tahoma"/>
                <a:cs typeface="Tahoma"/>
              </a:rPr>
              <a:t>ON </a:t>
            </a:r>
            <a:r>
              <a:rPr sz="2000" b="1" spc="165" dirty="0">
                <a:solidFill>
                  <a:srgbClr val="001B72"/>
                </a:solidFill>
                <a:latin typeface="Tahoma"/>
                <a:cs typeface="Tahoma"/>
              </a:rPr>
              <a:t>EMERGING</a:t>
            </a:r>
            <a:r>
              <a:rPr sz="2000" b="1" spc="275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2000" b="1" spc="195" dirty="0">
                <a:solidFill>
                  <a:srgbClr val="001B72"/>
                </a:solidFill>
                <a:latin typeface="Tahoma"/>
                <a:cs typeface="Tahoma"/>
              </a:rPr>
              <a:t>TRENDS</a:t>
            </a:r>
            <a:r>
              <a:rPr sz="2000" b="1" spc="280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001B72"/>
                </a:solidFill>
                <a:latin typeface="Tahoma"/>
                <a:cs typeface="Tahoma"/>
              </a:rPr>
              <a:t>IN</a:t>
            </a:r>
            <a:r>
              <a:rPr sz="2000" b="1" spc="280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2000" b="1" spc="145" dirty="0">
                <a:solidFill>
                  <a:srgbClr val="001B72"/>
                </a:solidFill>
                <a:latin typeface="Tahoma"/>
                <a:cs typeface="Tahoma"/>
              </a:rPr>
              <a:t>ENGINEERING</a:t>
            </a:r>
            <a:r>
              <a:rPr sz="2000" b="1" spc="280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2000" b="1" spc="-225" dirty="0">
                <a:solidFill>
                  <a:srgbClr val="001B72"/>
                </a:solidFill>
                <a:latin typeface="Tahoma"/>
                <a:cs typeface="Tahoma"/>
              </a:rPr>
              <a:t>A</a:t>
            </a:r>
            <a:r>
              <a:rPr sz="2000" u="heavy" spc="30" dirty="0">
                <a:solidFill>
                  <a:srgbClr val="001B72"/>
                </a:solidFill>
                <a:uFill>
                  <a:solidFill>
                    <a:srgbClr val="12219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spc="165" dirty="0">
                <a:solidFill>
                  <a:srgbClr val="001B72"/>
                </a:solidFill>
                <a:latin typeface="Tahoma"/>
                <a:cs typeface="Tahoma"/>
              </a:rPr>
              <a:t>ND </a:t>
            </a:r>
            <a:r>
              <a:rPr sz="2000" b="1" spc="190" dirty="0">
                <a:solidFill>
                  <a:srgbClr val="001B72"/>
                </a:solidFill>
                <a:latin typeface="Tahoma"/>
                <a:cs typeface="Tahoma"/>
              </a:rPr>
              <a:t>COMPUTING</a:t>
            </a:r>
            <a:r>
              <a:rPr sz="2000" b="1" spc="320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2000" b="1" spc="155" dirty="0">
                <a:solidFill>
                  <a:srgbClr val="001B72"/>
                </a:solidFill>
                <a:latin typeface="Tahoma"/>
                <a:cs typeface="Tahoma"/>
              </a:rPr>
              <a:t>(ETECOM)</a:t>
            </a:r>
            <a:endParaRPr sz="2000" dirty="0">
              <a:latin typeface="Tahoma"/>
              <a:cs typeface="Tahoma"/>
            </a:endParaRPr>
          </a:p>
          <a:p>
            <a:pPr marR="188595" algn="ctr">
              <a:lnSpc>
                <a:spcPct val="100000"/>
              </a:lnSpc>
              <a:spcBef>
                <a:spcPts val="1530"/>
              </a:spcBef>
            </a:pPr>
            <a:r>
              <a:rPr sz="1850" b="1" spc="70" dirty="0">
                <a:solidFill>
                  <a:srgbClr val="001B72"/>
                </a:solidFill>
                <a:latin typeface="Tahoma"/>
                <a:cs typeface="Tahoma"/>
              </a:rPr>
              <a:t>29-</a:t>
            </a:r>
            <a:r>
              <a:rPr sz="1850" b="1" spc="60" dirty="0">
                <a:solidFill>
                  <a:srgbClr val="001B72"/>
                </a:solidFill>
                <a:latin typeface="Tahoma"/>
                <a:cs typeface="Tahoma"/>
              </a:rPr>
              <a:t>30</a:t>
            </a:r>
            <a:r>
              <a:rPr sz="1850" b="1" spc="210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1850" b="1" spc="200" dirty="0">
                <a:solidFill>
                  <a:srgbClr val="001B72"/>
                </a:solidFill>
                <a:latin typeface="Tahoma"/>
                <a:cs typeface="Tahoma"/>
              </a:rPr>
              <a:t>OCTOBER</a:t>
            </a:r>
            <a:r>
              <a:rPr sz="1850" b="1" spc="215" dirty="0">
                <a:solidFill>
                  <a:srgbClr val="001B72"/>
                </a:solidFill>
                <a:latin typeface="Tahoma"/>
                <a:cs typeface="Tahoma"/>
              </a:rPr>
              <a:t> </a:t>
            </a:r>
            <a:r>
              <a:rPr sz="1850" b="1" spc="175" dirty="0">
                <a:solidFill>
                  <a:srgbClr val="001B72"/>
                </a:solidFill>
                <a:latin typeface="Tahoma"/>
                <a:cs typeface="Tahoma"/>
              </a:rPr>
              <a:t>2</a:t>
            </a:r>
            <a:r>
              <a:rPr sz="1850" b="1" spc="-405" dirty="0">
                <a:solidFill>
                  <a:srgbClr val="001B72"/>
                </a:solidFill>
                <a:latin typeface="Tahoma"/>
                <a:cs typeface="Tahoma"/>
              </a:rPr>
              <a:t>0</a:t>
            </a:r>
            <a:r>
              <a:rPr sz="1850" u="heavy" spc="105" dirty="0">
                <a:solidFill>
                  <a:srgbClr val="001B72"/>
                </a:solidFill>
                <a:uFill>
                  <a:solidFill>
                    <a:srgbClr val="12219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50" b="1" spc="-25" dirty="0">
                <a:solidFill>
                  <a:srgbClr val="001B72"/>
                </a:solidFill>
                <a:latin typeface="Tahoma"/>
                <a:cs typeface="Tahoma"/>
              </a:rPr>
              <a:t>25</a:t>
            </a:r>
            <a:endParaRPr sz="185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6000" y="5455254"/>
            <a:ext cx="62611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i="1" dirty="0">
                <a:solidFill>
                  <a:srgbClr val="A0073D"/>
                </a:solidFill>
                <a:latin typeface="Verdana"/>
                <a:cs typeface="Verdana"/>
              </a:rPr>
              <a:t>PRESENTATION</a:t>
            </a:r>
            <a:r>
              <a:rPr sz="4000" b="1" i="1" spc="114" dirty="0">
                <a:solidFill>
                  <a:srgbClr val="A0073D"/>
                </a:solidFill>
                <a:latin typeface="Verdana"/>
                <a:cs typeface="Verdana"/>
              </a:rPr>
              <a:t> </a:t>
            </a:r>
            <a:r>
              <a:rPr sz="4000" b="1" i="1" spc="-114" dirty="0">
                <a:solidFill>
                  <a:srgbClr val="A0073D"/>
                </a:solidFill>
                <a:latin typeface="Verdana"/>
                <a:cs typeface="Verdana"/>
              </a:rPr>
              <a:t>TITLE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0491" y="6784337"/>
            <a:ext cx="6843395" cy="18859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857375">
              <a:lnSpc>
                <a:spcPct val="100000"/>
              </a:lnSpc>
              <a:spcBef>
                <a:spcPts val="550"/>
              </a:spcBef>
            </a:pPr>
            <a:r>
              <a:rPr sz="2650" spc="-204" dirty="0">
                <a:solidFill>
                  <a:srgbClr val="001B72"/>
                </a:solidFill>
                <a:latin typeface="Arial Black"/>
                <a:cs typeface="Arial Black"/>
              </a:rPr>
              <a:t>Presented</a:t>
            </a:r>
            <a:r>
              <a:rPr sz="2650" spc="-160" dirty="0">
                <a:solidFill>
                  <a:srgbClr val="001B72"/>
                </a:solidFill>
                <a:latin typeface="Arial Black"/>
                <a:cs typeface="Arial Black"/>
              </a:rPr>
              <a:t> </a:t>
            </a:r>
            <a:r>
              <a:rPr sz="2650" spc="-170" dirty="0">
                <a:solidFill>
                  <a:srgbClr val="001B72"/>
                </a:solidFill>
                <a:latin typeface="Arial Black"/>
                <a:cs typeface="Arial Black"/>
              </a:rPr>
              <a:t>by</a:t>
            </a:r>
            <a:r>
              <a:rPr sz="2650" spc="-160" dirty="0">
                <a:solidFill>
                  <a:srgbClr val="001B72"/>
                </a:solidFill>
                <a:latin typeface="Arial Black"/>
                <a:cs typeface="Arial Black"/>
              </a:rPr>
              <a:t> </a:t>
            </a:r>
            <a:r>
              <a:rPr sz="2650" spc="-165" dirty="0">
                <a:solidFill>
                  <a:srgbClr val="001B72"/>
                </a:solidFill>
                <a:latin typeface="Arial Black"/>
                <a:cs typeface="Arial Black"/>
              </a:rPr>
              <a:t>:</a:t>
            </a:r>
            <a:r>
              <a:rPr sz="2650" spc="-295" dirty="0">
                <a:solidFill>
                  <a:srgbClr val="001B72"/>
                </a:solidFill>
                <a:latin typeface="Arial Black"/>
                <a:cs typeface="Arial Black"/>
              </a:rPr>
              <a:t> </a:t>
            </a:r>
            <a:r>
              <a:rPr sz="2650" spc="-210" dirty="0">
                <a:solidFill>
                  <a:srgbClr val="001B72"/>
                </a:solidFill>
                <a:latin typeface="Arial Black"/>
                <a:cs typeface="Arial Black"/>
              </a:rPr>
              <a:t>Presenter</a:t>
            </a:r>
            <a:r>
              <a:rPr sz="2650" spc="-155" dirty="0">
                <a:solidFill>
                  <a:srgbClr val="001B72"/>
                </a:solidFill>
                <a:latin typeface="Arial Black"/>
                <a:cs typeface="Arial Black"/>
              </a:rPr>
              <a:t> </a:t>
            </a:r>
            <a:r>
              <a:rPr sz="2650" spc="-300" dirty="0">
                <a:solidFill>
                  <a:srgbClr val="001B72"/>
                </a:solidFill>
                <a:latin typeface="Arial Black"/>
                <a:cs typeface="Arial Black"/>
              </a:rPr>
              <a:t>Name</a:t>
            </a:r>
            <a:endParaRPr sz="2650" dirty="0">
              <a:latin typeface="Arial Black"/>
              <a:cs typeface="Arial Black"/>
            </a:endParaRPr>
          </a:p>
          <a:p>
            <a:pPr marL="1857375">
              <a:lnSpc>
                <a:spcPct val="100000"/>
              </a:lnSpc>
              <a:spcBef>
                <a:spcPts val="445"/>
              </a:spcBef>
            </a:pPr>
            <a:r>
              <a:rPr sz="2650" spc="-10" dirty="0">
                <a:solidFill>
                  <a:srgbClr val="001B72"/>
                </a:solidFill>
                <a:latin typeface="Arial MT"/>
                <a:cs typeface="Arial MT"/>
              </a:rPr>
              <a:t>Affiliation</a:t>
            </a:r>
            <a:endParaRPr sz="2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75"/>
              </a:spcBef>
            </a:pPr>
            <a:endParaRPr sz="26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B0C90"/>
                </a:solidFill>
                <a:latin typeface="Arial Black"/>
                <a:cs typeface="Arial Black"/>
              </a:rPr>
              <a:t>CO-</a:t>
            </a:r>
            <a:r>
              <a:rPr sz="1800" spc="-10" dirty="0">
                <a:solidFill>
                  <a:srgbClr val="1B0C90"/>
                </a:solidFill>
                <a:latin typeface="Arial Black"/>
                <a:cs typeface="Arial Black"/>
              </a:rPr>
              <a:t>AUTHORS:</a:t>
            </a:r>
            <a:endParaRPr sz="1800" dirty="0">
              <a:latin typeface="Arial Black"/>
              <a:cs typeface="Arial Black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8288000" cy="10972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b36440b-31d0-4e9c-943f-1b179d277e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822960"/>
          </a:xfrm>
          <a:prstGeom prst="rect">
            <a:avLst/>
          </a:prstGeom>
        </p:spPr>
      </p:pic>
      <p:pic>
        <p:nvPicPr>
          <p:cNvPr id="28" name="Picture 27" descr="8a3e3a18-be58-4cd8-a622-566e8e5142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91440"/>
            <a:ext cx="2065468" cy="914400"/>
          </a:xfrm>
          <a:prstGeom prst="rect">
            <a:avLst/>
          </a:prstGeom>
        </p:spPr>
      </p:pic>
      <p:pic>
        <p:nvPicPr>
          <p:cNvPr id="29" name="Picture 28" descr="5471a57d-ef89-4a0c-8a5d-232a70c923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64592"/>
            <a:ext cx="2009325" cy="7315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152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F4C81"/>
                </a:solidFill>
              </a:defRPr>
            </a:pPr>
            <a:r>
              <a:t>PRESENTATION TITLE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01752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Presented by: Presenter Name</a:t>
            </a:r>
          </a:p>
          <a:p>
            <a:pPr algn="ctr">
              <a:defRPr sz="1800"/>
            </a:pPr>
            <a:r>
              <a:t>Affiliation</a:t>
            </a:r>
          </a:p>
          <a:p>
            <a:pPr algn="ctr">
              <a:defRPr sz="1800"/>
            </a:pPr>
            <a:r>
              <a:t>Co-authors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E6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8288000" cy="109728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1097280" cy="82296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91440"/>
            <a:ext cx="2065468" cy="914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64592"/>
            <a:ext cx="2009325" cy="73152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26013" y="1358460"/>
            <a:ext cx="18119563" cy="846269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International Conference on Emerging Technologies in Computing and Communication (ETCC 2026)</a:t>
            </a:r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8288000" cy="10515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0" y="-4115"/>
            <a:ext cx="1762576" cy="100995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-106339"/>
            <a:ext cx="2854037" cy="12609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29400" y="-18288"/>
            <a:ext cx="64178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ETCC 2026</a:t>
            </a:r>
          </a:p>
          <a:p>
            <a:pPr algn="ctr"/>
            <a:r>
              <a:rPr lang="en-US" sz="22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International </a:t>
            </a: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Conference on </a:t>
            </a:r>
            <a:r>
              <a:rPr lang="en-US" sz="22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Emerging Technologies in </a:t>
            </a: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Computing and Communication</a:t>
            </a:r>
            <a:endParaRPr lang="en-IN" sz="22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32781" y="1725384"/>
            <a:ext cx="1522243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5400" b="1" dirty="0">
                <a:solidFill>
                  <a:srgbClr val="002060"/>
                </a:solidFill>
                <a:latin typeface="+mj-lt"/>
                <a:cs typeface="Times New Roman" pitchFamily="18" charset="0"/>
              </a:rPr>
              <a:t>International Conference on Emerging Technologies </a:t>
            </a:r>
            <a:endParaRPr lang="en-IN" sz="5400" b="1" dirty="0" smtClean="0">
              <a:solidFill>
                <a:srgbClr val="002060"/>
              </a:solidFill>
              <a:latin typeface="+mj-lt"/>
              <a:cs typeface="Times New Roman" pitchFamily="18" charset="0"/>
            </a:endParaRPr>
          </a:p>
          <a:p>
            <a:pPr algn="ctr"/>
            <a:r>
              <a:rPr lang="en-IN" sz="5400" b="1" dirty="0" smtClean="0">
                <a:solidFill>
                  <a:srgbClr val="002060"/>
                </a:solidFill>
                <a:latin typeface="+mj-lt"/>
                <a:cs typeface="Times New Roman" pitchFamily="18" charset="0"/>
              </a:rPr>
              <a:t>in </a:t>
            </a:r>
            <a:r>
              <a:rPr lang="en-IN" sz="5400" b="1" dirty="0">
                <a:solidFill>
                  <a:srgbClr val="002060"/>
                </a:solidFill>
                <a:latin typeface="+mj-lt"/>
                <a:cs typeface="Times New Roman" pitchFamily="18" charset="0"/>
              </a:rPr>
              <a:t>Computing and Communication (ETCC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3808696"/>
            <a:ext cx="1379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7030A0"/>
                </a:solidFill>
                <a:latin typeface="+mj-lt"/>
              </a:rPr>
              <a:t>PRESENTATION </a:t>
            </a:r>
            <a:r>
              <a:rPr lang="en-US" sz="4000" b="1" dirty="0" smtClean="0">
                <a:solidFill>
                  <a:srgbClr val="7030A0"/>
                </a:solidFill>
                <a:latin typeface="+mj-lt"/>
              </a:rPr>
              <a:t>TITLE: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494" y="6210300"/>
            <a:ext cx="9982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  <a:latin typeface="+mj-lt"/>
              </a:rPr>
              <a:t>PRESENTED BY:</a:t>
            </a:r>
          </a:p>
          <a:p>
            <a:r>
              <a:rPr lang="en-US" sz="3600" b="1" dirty="0">
                <a:solidFill>
                  <a:srgbClr val="7030A0"/>
                </a:solidFill>
                <a:latin typeface="+mj-lt"/>
              </a:rPr>
              <a:t>AFFILIATION:</a:t>
            </a:r>
          </a:p>
          <a:p>
            <a:r>
              <a:rPr lang="en-US" sz="3600" b="1" dirty="0">
                <a:solidFill>
                  <a:srgbClr val="7030A0"/>
                </a:solidFill>
                <a:latin typeface="+mj-lt"/>
              </a:rPr>
              <a:t>CO-AUTHORS:</a:t>
            </a:r>
            <a:endParaRPr lang="en-IN" sz="3600" b="1" dirty="0">
              <a:solidFill>
                <a:srgbClr val="7030A0"/>
              </a:solidFill>
              <a:latin typeface="+mj-lt"/>
            </a:endParaRPr>
          </a:p>
          <a:p>
            <a:endParaRPr lang="en-IN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037" y="6477"/>
            <a:ext cx="2310557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800" y="-18288"/>
            <a:ext cx="2961825" cy="1097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3" y="6477"/>
            <a:ext cx="1018454" cy="1014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DBC3936-0BD6-0575-BF5C-AF6996CF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251180" y="9715500"/>
            <a:ext cx="4206240" cy="276999"/>
          </a:xfrm>
        </p:spPr>
        <p:txBody>
          <a:bodyPr/>
          <a:lstStyle/>
          <a:p>
            <a:pPr algn="r"/>
            <a:fld id="{91D01E4A-608F-4ADE-886B-FA984A8E6BB8}" type="slidenum">
              <a:rPr lang="en-US" smtClean="0"/>
              <a:pPr algn="r"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0BBE7981-6310-1064-205B-EAE27C7C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006600"/>
            <a:ext cx="17602200" cy="615553"/>
          </a:xfrm>
        </p:spPr>
        <p:txBody>
          <a:bodyPr/>
          <a:lstStyle/>
          <a:p>
            <a:r>
              <a:rPr lang="en-US" sz="4000" b="1" dirty="0" smtClean="0">
                <a:latin typeface="+mj-lt"/>
              </a:rPr>
              <a:t>ABSTRACT</a:t>
            </a:r>
            <a:endParaRPr lang="en-US" sz="4000" b="1" dirty="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3400" y="3086100"/>
            <a:ext cx="5410200" cy="6477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649200" y="3079173"/>
            <a:ext cx="5410200" cy="6477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6629400" y="3048000"/>
            <a:ext cx="5410200" cy="6477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085507" y="3238500"/>
            <a:ext cx="43059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 smtClean="0">
                <a:latin typeface="+mj-lt"/>
              </a:rPr>
              <a:t>Core Problem &amp; Motivation</a:t>
            </a:r>
            <a:endParaRPr lang="en-IN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33932" y="3238500"/>
            <a:ext cx="300114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latin typeface="+mj-lt"/>
              </a:rPr>
              <a:t>Proposed Solution </a:t>
            </a:r>
            <a:endParaRPr lang="en-IN" sz="2800" b="1" dirty="0" smtClean="0">
              <a:latin typeface="+mj-lt"/>
            </a:endParaRPr>
          </a:p>
          <a:p>
            <a:pPr algn="ctr"/>
            <a:r>
              <a:rPr lang="en-IN" sz="2800" b="1" dirty="0" smtClean="0">
                <a:latin typeface="+mj-lt"/>
              </a:rPr>
              <a:t>&amp; </a:t>
            </a:r>
            <a:r>
              <a:rPr lang="en-IN" sz="2800" b="1" dirty="0">
                <a:latin typeface="+mj-lt"/>
              </a:rPr>
              <a:t>Methodology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99705" y="3238500"/>
            <a:ext cx="34964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>
                <a:latin typeface="+mj-lt"/>
              </a:rPr>
              <a:t>Key Findings &amp; Impact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838200" y="9715500"/>
            <a:ext cx="4206240" cy="276999"/>
          </a:xfrm>
        </p:spPr>
        <p:txBody>
          <a:bodyPr/>
          <a:lstStyle/>
          <a:p>
            <a:fld id="{32AB320B-F62A-452E-8DCB-5C0C5FB98853}" type="datetime3">
              <a:rPr lang="en-US" smtClean="0"/>
              <a:t>16 July 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6187440" y="9715500"/>
            <a:ext cx="5852160" cy="276999"/>
          </a:xfrm>
        </p:spPr>
        <p:txBody>
          <a:bodyPr/>
          <a:lstStyle/>
          <a:p>
            <a:pPr algn="ctr"/>
            <a:r>
              <a:rPr lang="en-US" dirty="0" smtClean="0"/>
              <a:t>ETCC 2026</a:t>
            </a:r>
            <a:endParaRPr lang="en-US" dirty="0"/>
          </a:p>
        </p:txBody>
      </p:sp>
      <p:sp>
        <p:nvSpPr>
          <p:cNvPr id="201" name="Card Content 201"/>
          <p:cNvSpPr txBox="1"/>
          <p:nvPr/>
        </p:nvSpPr>
        <p:spPr>
          <a:xfrm>
            <a:off x="833400" y="3961720"/>
            <a:ext cx="4810200" cy="52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Landslide segmentation from remote sensing imagery is hard: irregular boundaries, small foreground area, and strong visual similarity to bare soil, rock and shadow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Manual, field-based mapping is slow, costly and does not scale to large or inaccessible terrain</a:t>
            </a:r>
          </a:p>
        </p:txBody>
      </p:sp>
      <p:sp>
        <p:nvSpPr>
          <p:cNvPr id="202" name="Card Content 202"/>
          <p:cNvSpPr txBox="1"/>
          <p:nvPr/>
        </p:nvSpPr>
        <p:spPr>
          <a:xfrm>
            <a:off x="6929400" y="4450000"/>
            <a:ext cx="4810200" cy="47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SAM generates a coarse Region-of-Interest (ROI) mask offline, used only as a spatial prior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ROI mask + RGB image are fed into a Swin Transformer backbone for final segmentation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Benchmarked against a CNN baseline and a standalone Swin-T baseline on the Bijie Landslide Dataset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Grad-CAM adds explainability to the model's attention</a:t>
            </a:r>
          </a:p>
        </p:txBody>
      </p:sp>
      <p:sp>
        <p:nvSpPr>
          <p:cNvPr id="203" name="Card Content 203"/>
          <p:cNvSpPr txBox="1"/>
          <p:nvPr/>
        </p:nvSpPr>
        <p:spPr>
          <a:xfrm>
            <a:off x="12949200" y="3961720"/>
            <a:ext cx="4810200" cy="52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SAM + Swin hybrid achieves the best score on every metric: IoU 0.693, Dice 0.812, Precision 0.730, Recall 0.935, Accuracy 0.966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Grad-CAM confirms sharper focus on landslide-relevant regions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Promising qualitative generalization on external Uttarakhand imagery</a:t>
            </a:r>
          </a:p>
        </p:txBody>
      </p:sp>
    </p:spTree>
    <p:extLst>
      <p:ext uri="{BB962C8B-B14F-4D97-AF65-F5344CB8AC3E}">
        <p14:creationId xmlns:p14="http://schemas.microsoft.com/office/powerpoint/2010/main" val="354687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E90C7BA-40EF-1F78-5C6E-4200D97A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485900"/>
            <a:ext cx="17602200" cy="984885"/>
          </a:xfrm>
        </p:spPr>
        <p:txBody>
          <a:bodyPr/>
          <a:lstStyle/>
          <a:p>
            <a:r>
              <a:rPr lang="en-US" sz="4000" b="1" dirty="0" smtClean="0">
                <a:latin typeface="+mj-lt"/>
              </a:rPr>
              <a:t>INTRODUCTION</a:t>
            </a:r>
            <a:endParaRPr lang="en-US" sz="4000" b="1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2AE5387-3B37-D627-1E04-EA94018C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486900"/>
            <a:ext cx="2209800" cy="529590"/>
          </a:xfrm>
        </p:spPr>
        <p:txBody>
          <a:bodyPr/>
          <a:lstStyle/>
          <a:p>
            <a:pPr algn="ctr"/>
            <a:fld id="{91D01E4A-608F-4ADE-886B-FA984A8E6BB8}" type="slidenum">
              <a:rPr lang="en-US" smtClean="0"/>
              <a:pPr algn="ctr"/>
              <a:t>3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>
          <a:xfrm>
            <a:off x="914400" y="9486900"/>
            <a:ext cx="4206240" cy="514350"/>
          </a:xfrm>
        </p:spPr>
        <p:txBody>
          <a:bodyPr/>
          <a:lstStyle/>
          <a:p>
            <a:fld id="{B3B8C5D0-689E-42D9-8B4F-F0B0AB884CA8}" type="datetime3">
              <a:rPr lang="en-US" smtClean="0"/>
              <a:t>16 July 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8001000" y="9486900"/>
            <a:ext cx="2743200" cy="571500"/>
          </a:xfrm>
        </p:spPr>
        <p:txBody>
          <a:bodyPr/>
          <a:lstStyle/>
          <a:p>
            <a:pPr algn="ctr"/>
            <a:r>
              <a:rPr lang="en-US" smtClean="0"/>
              <a:t>ETCC 2026</a:t>
            </a:r>
            <a:endParaRPr lang="en-US" dirty="0"/>
          </a:p>
        </p:txBody>
      </p:sp>
      <p:sp>
        <p:nvSpPr>
          <p:cNvPr id="101" name="Content 101"/>
          <p:cNvSpPr txBox="1"/>
          <p:nvPr/>
        </p:nvSpPr>
        <p:spPr>
          <a:xfrm>
            <a:off x="304800" y="2550000"/>
            <a:ext cx="8551100" cy="68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Background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Landslides are among the most destructive natural hazards — a serious threat to life, infrastructure and the environment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Traditional field-based mapping is slow, costly and hard to scale over large or inaccessible terrain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High-resolution satellite imagery + deep learning enable automated, large-scale landslide monitoring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Why it's hard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Landslide boundaries are irregular, diffused and often a small part of the scene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Bare soil, exposed rock and shadow visually resemble landslides, causing false positives</a:t>
            </a:r>
          </a:p>
        </p:txBody>
      </p:sp>
      <p:sp>
        <p:nvSpPr>
          <p:cNvPr id="102" name="Content 102"/>
          <p:cNvSpPr txBox="1"/>
          <p:nvPr/>
        </p:nvSpPr>
        <p:spPr>
          <a:xfrm>
            <a:off x="9355900" y="2550000"/>
            <a:ext cx="8551100" cy="68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The gap this work targets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CNNs capture local texture well but miss long-range scene context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Transformers (Swin) model context better, but can still attend to irrelevant background regions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Segment Anything Model (SAM) gives strong general-purpose masks, but is not landslide-specific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Proposed idea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 SAM offline to generate a coarse Region-of-Interest (ROI) mask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Feed that ROI mask as a spatial prior into a Swin Transformer segmentation model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Add Grad-CAM to make the model's attention explainable</a:t>
            </a:r>
          </a:p>
        </p:txBody>
      </p:sp>
    </p:spTree>
    <p:extLst>
      <p:ext uri="{BB962C8B-B14F-4D97-AF65-F5344CB8AC3E}">
        <p14:creationId xmlns:p14="http://schemas.microsoft.com/office/powerpoint/2010/main" val="243343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E90C7BA-40EF-1F78-5C6E-4200D97A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2100"/>
            <a:ext cx="17602200" cy="615553"/>
          </a:xfrm>
        </p:spPr>
        <p:txBody>
          <a:bodyPr/>
          <a:lstStyle/>
          <a:p>
            <a:r>
              <a:rPr lang="en-US" sz="4000" b="1" dirty="0" smtClean="0">
                <a:latin typeface="+mj-lt"/>
              </a:rPr>
              <a:t>LITERATURE REVIEW</a:t>
            </a:r>
            <a:endParaRPr lang="en-US" sz="4000" b="1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2AE5387-3B37-D627-1E04-EA94018C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91D01E4A-608F-4ADE-886B-FA984A8E6BB8}" type="slidenum">
              <a:rPr lang="en-US" smtClean="0"/>
              <a:pPr algn="r"/>
              <a:t>4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9F7C7C3-A0D1-4763-9322-0690846F955D}" type="datetime3">
              <a:rPr lang="en-US" smtClean="0"/>
              <a:t>16 July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US" dirty="0" smtClean="0"/>
              <a:t>ETCC 2026</a:t>
            </a:r>
            <a:endParaRPr lang="en-US" dirty="0"/>
          </a:p>
        </p:txBody>
      </p:sp>
      <p:sp>
        <p:nvSpPr>
          <p:cNvPr id="101" name="Content 101"/>
          <p:cNvSpPr txBox="1"/>
          <p:nvPr/>
        </p:nvSpPr>
        <p:spPr>
          <a:xfrm>
            <a:off x="304800" y="2550000"/>
            <a:ext cx="8551100" cy="68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Evolution of approaches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Traditional ML / OBIA (SVM, Random Forest) — handcrafted features, weak generalization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CNN-based (U-Net, Mask R-CNN, MRIFE) — strong local features, weak global context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Transformer-based (Swin, Lights-Transformer) — better context modeling, higher compute cost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Hybrid CNN-Transformer (Conv-Trans, CTHNet, Attention Swin U-Net) — fuse local + global features, but inside one end-to-end backbone</a:t>
            </a:r>
          </a:p>
        </p:txBody>
      </p:sp>
      <p:sp>
        <p:nvSpPr>
          <p:cNvPr id="102" name="Content 102"/>
          <p:cNvSpPr txBox="1"/>
          <p:nvPr/>
        </p:nvSpPr>
        <p:spPr>
          <a:xfrm>
            <a:off x="9355900" y="2550000"/>
            <a:ext cx="8551100" cy="68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Research gap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Very little work uses a foundation model (e.g. SAM) purely as an external, offline spatial prior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Most hybrids fuse everything inside a single trainable backbone instead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Explainability (Grad-CAM) and external generalization checks are rarely reported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Positioning of this work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Proposes a SAM-guided Swin Transformer framework that fills this gap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Benchmarked against a CNN baseline and a standalone Swin-T baseline</a:t>
            </a:r>
          </a:p>
        </p:txBody>
      </p:sp>
    </p:spTree>
    <p:extLst>
      <p:ext uri="{BB962C8B-B14F-4D97-AF65-F5344CB8AC3E}">
        <p14:creationId xmlns:p14="http://schemas.microsoft.com/office/powerpoint/2010/main" val="131849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E90C7BA-40EF-1F78-5C6E-4200D97A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485900"/>
            <a:ext cx="17602200" cy="615553"/>
          </a:xfrm>
        </p:spPr>
        <p:txBody>
          <a:bodyPr/>
          <a:lstStyle/>
          <a:p>
            <a:r>
              <a:rPr lang="en-US" sz="4000" b="1" dirty="0" smtClean="0">
                <a:latin typeface="+mj-lt"/>
              </a:rPr>
              <a:t>PROPOSED METHODOLOGY</a:t>
            </a:r>
            <a:endParaRPr lang="en-US" sz="4000" b="1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2AE5387-3B37-D627-1E04-EA94018C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91D01E4A-608F-4ADE-886B-FA984A8E6BB8}" type="slidenum">
              <a:rPr lang="en-US" smtClean="0"/>
              <a:pPr algn="r"/>
              <a:t>5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6F186A9-903B-49C2-B253-200A39CA2C47}" type="datetime3">
              <a:rPr lang="en-US" smtClean="0"/>
              <a:t>16 July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US" dirty="0" smtClean="0"/>
              <a:t>ETCC 2026</a:t>
            </a:r>
            <a:endParaRPr lang="en-US" dirty="0"/>
          </a:p>
        </p:txBody>
      </p:sp>
      <p:sp>
        <p:nvSpPr>
          <p:cNvPr id="101" name="Content 101"/>
          <p:cNvSpPr txBox="1"/>
          <p:nvPr/>
        </p:nvSpPr>
        <p:spPr>
          <a:xfrm>
            <a:off x="304800" y="2550000"/>
            <a:ext cx="7800000" cy="68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Dataset &amp; setup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Bijie Landslide Dataset: 770 image-mask pairs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Split 539 / 115 / 116 (train / val / test)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Images resized to 256×256, batch size 8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AdamW optimizer, BCEDiceLoss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Trained on NVIDIA GTX 1650 (4GB VRAM)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Models compared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CNN baseline (U-Net style) — RGB only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Swin baseline (Swin-T) — RGB only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SAM + Swin hybrid (proposed) — RGB + SAM-derived ROI mask</a:t>
            </a:r>
          </a:p>
        </p:txBody>
      </p:sp>
      <p:sp>
        <p:nvSpPr>
          <p:cNvPr id="110" name="Box Input"/>
          <p:cNvSpPr/>
          <p:nvPr/>
        </p:nvSpPr>
        <p:spPr>
          <a:xfrm>
            <a:off x="10205900" y="2550000"/>
            <a:ext cx="6000000" cy="6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808080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400" b="1" dirty="0">
                <a:solidFill>
                  <a:srgbClr val="404040"/>
                </a:solidFill>
              </a:rPr>
              <a:t>Input remote sensing image</a:t>
            </a:r>
          </a:p>
        </p:txBody>
      </p:sp>
      <p:cxnSp>
        <p:nvCxnSpPr>
          <p:cNvPr id="111" name="Arrow1"/>
          <p:cNvCxnSpPr/>
          <p:nvPr/>
        </p:nvCxnSpPr>
        <p:spPr>
          <a:xfrm>
            <a:off x="13205900" y="3170000"/>
            <a:ext cx="1" cy="260000"/>
          </a:xfrm>
          <a:prstGeom prst="line">
            <a:avLst/>
          </a:prstGeom>
          <a:ln w="15875">
            <a:solidFill>
              <a:srgbClr val="4F81BD"/>
            </a:solidFill>
            <a:tailEnd type="triangle" w="med" len="med"/>
          </a:ln>
        </p:spPr>
      </p:cxnSp>
      <p:sp>
        <p:nvSpPr>
          <p:cNvPr id="112" name="Box SAM"/>
          <p:cNvSpPr/>
          <p:nvPr/>
        </p:nvSpPr>
        <p:spPr>
          <a:xfrm>
            <a:off x="10205900" y="3430000"/>
            <a:ext cx="6000000" cy="820000"/>
          </a:xfrm>
          <a:prstGeom prst="roundRect">
            <a:avLst>
              <a:gd name="adj" fmla="val 10000"/>
            </a:avLst>
          </a:prstGeom>
          <a:solidFill>
            <a:srgbClr val="E5E0F1"/>
          </a:solidFill>
          <a:ln w="12700">
            <a:solidFill>
              <a:srgbClr val="8064A2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400" b="1" dirty="0">
                <a:solidFill>
                  <a:srgbClr val="4C3B69"/>
                </a:solidFill>
              </a:rPr>
              <a:t>SAM ROI generation</a:t>
            </a:r>
          </a:p>
          <a:p>
            <a:pPr algn="ctr"/>
            <a:r>
              <a:rPr lang="en-US" sz="1400" dirty="0">
                <a:solidFill>
                  <a:srgbClr val="4C3B69"/>
                </a:solidFill>
              </a:rPr>
              <a:t>offline, coarse mask</a:t>
            </a:r>
          </a:p>
        </p:txBody>
      </p:sp>
      <p:cxnSp>
        <p:nvCxnSpPr>
          <p:cNvPr id="113" name="Arrow2"/>
          <p:cNvCxnSpPr/>
          <p:nvPr/>
        </p:nvCxnSpPr>
        <p:spPr>
          <a:xfrm>
            <a:off x="13205900" y="4250000"/>
            <a:ext cx="1" cy="260000"/>
          </a:xfrm>
          <a:prstGeom prst="line">
            <a:avLst/>
          </a:prstGeom>
          <a:ln w="15875">
            <a:solidFill>
              <a:srgbClr val="4F81BD"/>
            </a:solidFill>
            <a:tailEnd type="triangle" w="med" len="med"/>
          </a:ln>
        </p:spPr>
      </p:cxnSp>
      <p:sp>
        <p:nvSpPr>
          <p:cNvPr id="114" name="Box ROI"/>
          <p:cNvSpPr/>
          <p:nvPr/>
        </p:nvSpPr>
        <p:spPr>
          <a:xfrm>
            <a:off x="10205900" y="4510000"/>
            <a:ext cx="6000000" cy="820000"/>
          </a:xfrm>
          <a:prstGeom prst="roundRect">
            <a:avLst>
              <a:gd name="adj" fmla="val 10000"/>
            </a:avLst>
          </a:prstGeom>
          <a:solidFill>
            <a:srgbClr val="E5E0F1"/>
          </a:solidFill>
          <a:ln w="12700">
            <a:solidFill>
              <a:srgbClr val="8064A2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400" b="1" dirty="0">
                <a:solidFill>
                  <a:srgbClr val="4C3B69"/>
                </a:solidFill>
              </a:rPr>
              <a:t>ROI guidance mask</a:t>
            </a:r>
          </a:p>
          <a:p>
            <a:pPr algn="ctr"/>
            <a:r>
              <a:rPr lang="en-US" sz="1400" dirty="0">
                <a:solidFill>
                  <a:srgbClr val="4C3B69"/>
                </a:solidFill>
              </a:rPr>
              <a:t>spatial prior</a:t>
            </a:r>
          </a:p>
        </p:txBody>
      </p:sp>
      <p:cxnSp>
        <p:nvCxnSpPr>
          <p:cNvPr id="115" name="Arrow3"/>
          <p:cNvCxnSpPr/>
          <p:nvPr/>
        </p:nvCxnSpPr>
        <p:spPr>
          <a:xfrm>
            <a:off x="13205900" y="5330000"/>
            <a:ext cx="1" cy="260000"/>
          </a:xfrm>
          <a:prstGeom prst="line">
            <a:avLst/>
          </a:prstGeom>
          <a:ln w="15875">
            <a:solidFill>
              <a:srgbClr val="4F81BD"/>
            </a:solidFill>
            <a:tailEnd type="triangle" w="med" len="med"/>
          </a:ln>
        </p:spPr>
      </p:cxnSp>
      <p:sp>
        <p:nvSpPr>
          <p:cNvPr id="116" name="Box Swin"/>
          <p:cNvSpPr/>
          <p:nvPr/>
        </p:nvSpPr>
        <p:spPr>
          <a:xfrm>
            <a:off x="10205900" y="5590000"/>
            <a:ext cx="6000000" cy="820000"/>
          </a:xfrm>
          <a:prstGeom prst="roundRect">
            <a:avLst>
              <a:gd name="adj" fmla="val 10000"/>
            </a:avLst>
          </a:prstGeom>
          <a:solidFill>
            <a:srgbClr val="DCE6F1"/>
          </a:solidFill>
          <a:ln w="12700">
            <a:solidFill>
              <a:srgbClr val="4F81BD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400" b="1" dirty="0">
                <a:solidFill>
                  <a:srgbClr val="1F497D"/>
                </a:solidFill>
              </a:rPr>
              <a:t>Swin Transformer backbone</a:t>
            </a:r>
          </a:p>
          <a:p>
            <a:pPr algn="ctr"/>
            <a:r>
              <a:rPr lang="en-US" sz="1400" dirty="0">
                <a:solidFill>
                  <a:srgbClr val="1F497D"/>
                </a:solidFill>
              </a:rPr>
              <a:t>image + ROI mask input</a:t>
            </a:r>
          </a:p>
        </p:txBody>
      </p:sp>
      <p:cxnSp>
        <p:nvCxnSpPr>
          <p:cNvPr id="117" name="Stem"/>
          <p:cNvCxnSpPr/>
          <p:nvPr/>
        </p:nvCxnSpPr>
        <p:spPr>
          <a:xfrm>
            <a:off x="13205900" y="6410000"/>
            <a:ext cx="1" cy="260000"/>
          </a:xfrm>
          <a:prstGeom prst="line">
            <a:avLst/>
          </a:prstGeom>
          <a:ln w="15875">
            <a:solidFill>
              <a:srgbClr val="4F81BD"/>
            </a:solidFill>
          </a:ln>
        </p:spPr>
      </p:cxnSp>
      <p:cxnSp>
        <p:nvCxnSpPr>
          <p:cNvPr id="118" name="BranchL"/>
          <p:cNvCxnSpPr/>
          <p:nvPr/>
        </p:nvCxnSpPr>
        <p:spPr>
          <a:xfrm flipH="1">
            <a:off x="11430900" y="6670000"/>
            <a:ext cx="1775000" cy="280000"/>
          </a:xfrm>
          <a:prstGeom prst="line">
            <a:avLst/>
          </a:prstGeom>
          <a:ln w="15875">
            <a:solidFill>
              <a:srgbClr val="4F81BD"/>
            </a:solidFill>
            <a:tailEnd type="triangle" w="med" len="med"/>
          </a:ln>
        </p:spPr>
      </p:cxnSp>
      <p:cxnSp>
        <p:nvCxnSpPr>
          <p:cNvPr id="119" name="BranchR"/>
          <p:cNvCxnSpPr/>
          <p:nvPr/>
        </p:nvCxnSpPr>
        <p:spPr>
          <a:xfrm>
            <a:off x="13205900" y="6670000"/>
            <a:ext cx="1775000" cy="280000"/>
          </a:xfrm>
          <a:prstGeom prst="line">
            <a:avLst/>
          </a:prstGeom>
          <a:ln w="15875">
            <a:solidFill>
              <a:srgbClr val="4F81BD"/>
            </a:solidFill>
            <a:tailEnd type="triangle" w="med" len="med"/>
          </a:ln>
        </p:spPr>
      </p:cxnSp>
      <p:sp>
        <p:nvSpPr>
          <p:cNvPr id="120" name="Box Mask"/>
          <p:cNvSpPr/>
          <p:nvPr/>
        </p:nvSpPr>
        <p:spPr>
          <a:xfrm>
            <a:off x="9780900" y="6950000"/>
            <a:ext cx="3300000" cy="820000"/>
          </a:xfrm>
          <a:prstGeom prst="roundRect">
            <a:avLst>
              <a:gd name="adj" fmla="val 10000"/>
            </a:avLst>
          </a:prstGeom>
          <a:solidFill>
            <a:srgbClr val="DCEAD6"/>
          </a:solidFill>
          <a:ln w="12700">
            <a:solidFill>
              <a:srgbClr val="9BBB59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300" b="1" dirty="0">
                <a:solidFill>
                  <a:srgbClr val="4F6228"/>
                </a:solidFill>
              </a:rPr>
              <a:t>Predicted landslide mask</a:t>
            </a:r>
          </a:p>
          <a:p>
            <a:pPr algn="ctr"/>
            <a:r>
              <a:rPr lang="en-US" sz="1300" dirty="0">
                <a:solidFill>
                  <a:srgbClr val="4F6228"/>
                </a:solidFill>
              </a:rPr>
              <a:t>segmentation output</a:t>
            </a:r>
          </a:p>
        </p:txBody>
      </p:sp>
      <p:sp>
        <p:nvSpPr>
          <p:cNvPr id="121" name="Box CAM"/>
          <p:cNvSpPr/>
          <p:nvPr/>
        </p:nvSpPr>
        <p:spPr>
          <a:xfrm>
            <a:off x="13330900" y="6950000"/>
            <a:ext cx="3300000" cy="820000"/>
          </a:xfrm>
          <a:prstGeom prst="roundRect">
            <a:avLst>
              <a:gd name="adj" fmla="val 10000"/>
            </a:avLst>
          </a:prstGeom>
          <a:solidFill>
            <a:srgbClr val="DCEAD6"/>
          </a:solidFill>
          <a:ln w="12700">
            <a:solidFill>
              <a:srgbClr val="9BBB59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300" b="1" dirty="0">
                <a:solidFill>
                  <a:srgbClr val="4F6228"/>
                </a:solidFill>
              </a:rPr>
              <a:t>Grad-CAM heatmap</a:t>
            </a:r>
          </a:p>
          <a:p>
            <a:pPr algn="ctr"/>
            <a:r>
              <a:rPr lang="en-US" sz="1300" dirty="0">
                <a:solidFill>
                  <a:srgbClr val="4F6228"/>
                </a:solidFill>
              </a:rPr>
              <a:t>attention explainability</a:t>
            </a:r>
          </a:p>
        </p:txBody>
      </p:sp>
    </p:spTree>
    <p:extLst>
      <p:ext uri="{BB962C8B-B14F-4D97-AF65-F5344CB8AC3E}">
        <p14:creationId xmlns:p14="http://schemas.microsoft.com/office/powerpoint/2010/main" val="116788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E90C7BA-40EF-1F78-5C6E-4200D97A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62100"/>
            <a:ext cx="17602200" cy="615553"/>
          </a:xfrm>
        </p:spPr>
        <p:txBody>
          <a:bodyPr/>
          <a:lstStyle/>
          <a:p>
            <a:r>
              <a:rPr lang="en-US" sz="4000" b="1" dirty="0" smtClean="0">
                <a:latin typeface="+mj-lt"/>
              </a:rPr>
              <a:t>RESULTS &amp; DISCUSSION</a:t>
            </a:r>
            <a:endParaRPr lang="en-US" sz="4000" b="1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2AE5387-3B37-D627-1E04-EA94018C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91D01E4A-608F-4ADE-886B-FA984A8E6BB8}" type="slidenum">
              <a:rPr lang="en-US" smtClean="0"/>
              <a:pPr algn="r"/>
              <a:t>6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DF001A7-A6A8-4889-AB07-C96F7844BF10}" type="datetime3">
              <a:rPr lang="en-US" smtClean="0"/>
              <a:t>16 July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US" dirty="0" smtClean="0"/>
              <a:t>ETCC 2026</a:t>
            </a:r>
            <a:endParaRPr lang="en-US" dirty="0"/>
          </a:p>
        </p:txBody>
      </p:sp>
      <p:graphicFrame>
        <p:nvGraphicFramePr>
          <p:cNvPr id="130" name="Results Table"/>
          <p:cNvGraphicFramePr>
            <a:graphicFrameLocks noGrp="1"/>
          </p:cNvGraphicFramePr>
          <p:nvPr/>
        </p:nvGraphicFramePr>
        <p:xfrm>
          <a:off x="2200000" y="2550000"/>
          <a:ext cx="13888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000"/>
                <a:gridCol w="2150000"/>
                <a:gridCol w="2150000"/>
                <a:gridCol w="2150000"/>
                <a:gridCol w="2150000"/>
                <a:gridCol w="2000000"/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IoU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Dice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CNN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0.590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0.731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0.627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Swin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0.634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0.766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0.673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F497D"/>
                          </a:solidFill>
                        </a:rPr>
                        <a:t>SAM + Swin (proposed)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F497D"/>
                          </a:solidFill>
                        </a:rPr>
                        <a:t>0.693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F497D"/>
                          </a:solidFill>
                        </a:rPr>
                        <a:t>0.812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F497D"/>
                          </a:solidFill>
                        </a:rPr>
                        <a:t>0.730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F497D"/>
                          </a:solidFill>
                        </a:rPr>
                        <a:t>0.935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F497D"/>
                          </a:solidFill>
                        </a:rPr>
                        <a:t>0.966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Content 131"/>
          <p:cNvSpPr txBox="1"/>
          <p:nvPr/>
        </p:nvSpPr>
        <p:spPr>
          <a:xfrm>
            <a:off x="304800" y="4950000"/>
            <a:ext cx="8551100" cy="44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Ablation study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CNN baseline: lowest scores overall — fragmented, discontinuous masks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Swin baseline: transformer context clearly helps — better mask coherence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SAM + Swin (proposed): best on every metric — IoU 0.693, Dice 0.812, Accuracy 0.966</a:t>
            </a:r>
          </a:p>
        </p:txBody>
      </p:sp>
      <p:sp>
        <p:nvSpPr>
          <p:cNvPr id="132" name="Content 132"/>
          <p:cNvSpPr txBox="1"/>
          <p:nvPr/>
        </p:nvSpPr>
        <p:spPr>
          <a:xfrm>
            <a:off x="9355900" y="4950000"/>
            <a:ext cx="8551100" cy="44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Qualitative findings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Precision jump is the standout — ROI guidance cuts false-positive background activation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Grad-CAM shows the hybrid model focuses more tightly on landslide-relevant regions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External Uttarakhand imagery (no ground truth) shows promising generalization behaviour</a:t>
            </a:r>
          </a:p>
        </p:txBody>
      </p:sp>
    </p:spTree>
    <p:extLst>
      <p:ext uri="{BB962C8B-B14F-4D97-AF65-F5344CB8AC3E}">
        <p14:creationId xmlns:p14="http://schemas.microsoft.com/office/powerpoint/2010/main" val="279050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E90C7BA-40EF-1F78-5C6E-4200D97A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714500"/>
            <a:ext cx="17602200" cy="615553"/>
          </a:xfrm>
        </p:spPr>
        <p:txBody>
          <a:bodyPr/>
          <a:lstStyle/>
          <a:p>
            <a:r>
              <a:rPr lang="en-US" sz="4000" b="1" dirty="0" smtClean="0">
                <a:latin typeface="+mj-lt"/>
              </a:rPr>
              <a:t>CONCLUSION</a:t>
            </a:r>
            <a:endParaRPr lang="en-US" sz="4000" b="1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2AE5387-3B37-D627-1E04-EA94018C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91D01E4A-608F-4ADE-886B-FA984A8E6BB8}" type="slidenum">
              <a:rPr lang="en-US" smtClean="0"/>
              <a:pPr algn="r"/>
              <a:t>7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9555FBD-37B1-4C17-8E93-27DC7288F068}" type="datetime3">
              <a:rPr lang="en-US" smtClean="0"/>
              <a:t>16 July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US" dirty="0" smtClean="0"/>
              <a:t>ETCC 2026</a:t>
            </a:r>
            <a:endParaRPr lang="en-US" dirty="0"/>
          </a:p>
        </p:txBody>
      </p:sp>
      <p:sp>
        <p:nvSpPr>
          <p:cNvPr id="101" name="Content 101"/>
          <p:cNvSpPr txBox="1"/>
          <p:nvPr/>
        </p:nvSpPr>
        <p:spPr>
          <a:xfrm>
            <a:off x="304800" y="2550000"/>
            <a:ext cx="8551100" cy="68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Conclusion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ROI-guided transformer segmentation improves landslide detection over CNN and standalone Swin baselines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SAM is used only offline as a spatial-prior generator — keeps the framework modular and computationally practical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Grad-CAM confirms sharper, more landslide-focused attention in the hybrid model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Preliminary external test (Uttarakhand imagery) suggests useful generalization potential</a:t>
            </a:r>
          </a:p>
        </p:txBody>
      </p:sp>
      <p:sp>
        <p:nvSpPr>
          <p:cNvPr id="102" name="Content 102"/>
          <p:cNvSpPr txBox="1"/>
          <p:nvPr/>
        </p:nvSpPr>
        <p:spPr>
          <a:xfrm>
            <a:off x="9355900" y="2550000"/>
            <a:ext cx="8551100" cy="68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Limitations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Final accuracy depends on the quality of SAM's ROI masks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External generalization check was qualitative only — no pixel-level ground truth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Experiments capped at 256×256 resolution due to GPU memory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000" b="1" dirty="0">
                <a:solidFill>
                  <a:srgbClr val="002060"/>
                </a:solidFill>
              </a:rPr>
              <a:t>Future scope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Refine/filter ROI masks; train at higher resolution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Add multi-modal input (DEM, slope, aspect) alongside RGB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Validate on larger, geographically diverse landslide datasets</a:t>
            </a:r>
          </a:p>
        </p:txBody>
      </p:sp>
    </p:spTree>
    <p:extLst>
      <p:ext uri="{BB962C8B-B14F-4D97-AF65-F5344CB8AC3E}">
        <p14:creationId xmlns:p14="http://schemas.microsoft.com/office/powerpoint/2010/main" val="287884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E90C7BA-40EF-1F78-5C6E-4200D97A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62100"/>
            <a:ext cx="17602200" cy="615553"/>
          </a:xfrm>
        </p:spPr>
        <p:txBody>
          <a:bodyPr/>
          <a:lstStyle/>
          <a:p>
            <a:r>
              <a:rPr lang="en-US" sz="4000" b="1" dirty="0" smtClean="0">
                <a:latin typeface="+mj-lt"/>
              </a:rPr>
              <a:t>REFERENCES</a:t>
            </a:r>
            <a:endParaRPr lang="en-US" sz="4000" b="1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2AE5387-3B37-D627-1E04-EA94018C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7360" y="9566910"/>
            <a:ext cx="4892039" cy="453390"/>
          </a:xfrm>
        </p:spPr>
        <p:txBody>
          <a:bodyPr/>
          <a:lstStyle/>
          <a:p>
            <a:pPr algn="r"/>
            <a:fld id="{91D01E4A-608F-4ADE-886B-FA984A8E6BB8}" type="slidenum">
              <a:rPr lang="en-US" smtClean="0"/>
              <a:pPr algn="r"/>
              <a:t>8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l"/>
            <a:fld id="{8F1D280D-0A43-479F-B07A-E437132AB218}" type="datetime3">
              <a:rPr lang="en-US" smtClean="0"/>
              <a:t>16 July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US" dirty="0" smtClean="0"/>
              <a:t>ETCC 2026</a:t>
            </a:r>
            <a:endParaRPr lang="en-US" dirty="0"/>
          </a:p>
        </p:txBody>
      </p:sp>
      <p:sp>
        <p:nvSpPr>
          <p:cNvPr id="101" name="Content 101"/>
          <p:cNvSpPr txBox="1"/>
          <p:nvPr/>
        </p:nvSpPr>
        <p:spPr>
          <a:xfrm>
            <a:off x="304800" y="2550000"/>
            <a:ext cx="8551100" cy="68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[1] Meena et al., “Landslide detection in the Himalayas using ML and U-Net,” Landslides, 2022.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[2] Ghorbanzadeh et al., “Landslide detection using deep learning and object-based image analysis,” Landslides, 2022.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[3] Ullo et al., “A New Mask R-CNN-Based Method for Improved Landslide Detection,” IEEE JSTARS, 2021.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[4] He et al., “MRIFE: Mask-Recovering and Interactive-Feature-Enhancing Segmentation Network,” 2024.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[5] Huang &amp; Chen, “Landslide Recognition from Multi-Feature Remote Sensing Data via Improved Transformers,” Remote Sens., 2023.</a:t>
            </a:r>
          </a:p>
        </p:txBody>
      </p:sp>
      <p:sp>
        <p:nvSpPr>
          <p:cNvPr id="102" name="Content 102"/>
          <p:cNvSpPr txBox="1"/>
          <p:nvPr/>
        </p:nvSpPr>
        <p:spPr>
          <a:xfrm>
            <a:off x="9355900" y="2550000"/>
            <a:ext cx="8551100" cy="687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[6] Wu et al., “Lights-Transformer: An Efficient Transformer-Based Landslide Detection Model,” Sensors, 2025.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[7] Chen et al., “Conv-trans dual network for landslide detection,” Front. Earth Sci., 2023.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[8] Liu et al., “Attention Swin Transformer UNet for Landslide Segmentation,” Remote Sens., 2024.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[9] Li et al., “CTHNet: A CNN–Transformer Hybrid Network for Landslide Identification,” Sensors, 2025.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[10] Kirillov et al., “Segment Anything,” ICCV, 2023.</a:t>
            </a: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[11] Selvaraju et al., “Grad-CAM: Visual Explanations from Deep Networks,” IJCV, 2020.</a:t>
            </a:r>
          </a:p>
        </p:txBody>
      </p:sp>
    </p:spTree>
    <p:extLst>
      <p:ext uri="{BB962C8B-B14F-4D97-AF65-F5344CB8AC3E}">
        <p14:creationId xmlns:p14="http://schemas.microsoft.com/office/powerpoint/2010/main" val="194399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Q And A Images – Browse 244,087 Stock Photos, Vectors, and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7" name="Picture 5" descr="Q And A Images – Browse 244,087 Stock Photos, Vectors, and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814145"/>
            <a:ext cx="8275583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C388E37-BCCC-4268-AB35-C3856447ACCE}" type="datetime3">
              <a:rPr lang="en-US" smtClean="0"/>
              <a:t>16 July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ETCC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2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Words>141</Words>
  <Application>Microsoft Office PowerPoint</Application>
  <PresentationFormat>Custom</PresentationFormat>
  <Paragraphs>56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ABSTRACT</vt:lpstr>
      <vt:lpstr>INTRODUCTION</vt:lpstr>
      <vt:lpstr>LITERATURE REVIEW</vt:lpstr>
      <vt:lpstr>PROPOSED METHODOLOGY</vt:lpstr>
      <vt:lpstr>RESULTS &amp; DISCUSSION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ETECOM2025  Presentation</dc:title>
  <dc:creator>Lilibeth Serencio Azuela</dc:creator>
  <cp:keywords>DAG0O0t9j-k,BAFRkR4L4gs,0</cp:keywords>
  <cp:lastModifiedBy>Maruthi Computers</cp:lastModifiedBy>
  <cp:revision>17</cp:revision>
  <dcterms:created xsi:type="dcterms:W3CDTF">2025-09-28T13:56:47Z</dcterms:created>
  <dcterms:modified xsi:type="dcterms:W3CDTF">2026-07-16T07:25:46Z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2025-09-28T00:00:00Z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2025-09-28T00:00:00Z</vt:filetime>
  </property>
  <property fmtid="{D5CDD505-2E9C-101B-9397-08002B2CF9AE}" pid="5" name="Producer">
    <vt:lpwstr>Canva</vt:lpwstr>
  </property>
</Properties>
</file>