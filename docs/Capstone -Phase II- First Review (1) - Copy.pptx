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58" r:id="rId3"/>
    <p:sldId id="279" r:id="rId4"/>
    <p:sldId id="275" r:id="rId5"/>
    <p:sldId id="260" r:id="rId6"/>
    <p:sldId id="280" r:id="rId7"/>
    <p:sldId id="259" r:id="rId8"/>
    <p:sldId id="263" r:id="rId9"/>
    <p:sldId id="266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CD8A-04E7-4E4F-3E68-26C9A577B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04E3A8-96DF-C86B-F0CC-99245F6BC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CEA6-2640-D563-0542-456D1F4A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E4F01-FA64-79FC-4C12-A20E73F9D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F529B-2768-1923-A8C8-2833704D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99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C6511-4835-28BB-8FB1-1DD6BD62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E51DD-C9BD-9B3D-97A0-A73722B33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06DC5-6281-96BC-16C8-9BEEEAD6C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3607C-82E9-F6A2-D426-372ABE71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C1B49-02B3-A834-D601-266742D7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60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49FC-8B41-3C0C-D01C-7A9FA31F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C38DE-591F-6907-E4C4-58A7CDA4E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B360B-9E25-332A-C7E2-677B6E42E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F4F6C-5CF5-29C7-313F-EAAFF99D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8D0B3-18BF-D0BE-32F0-896B2636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32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68F1-DC7C-CE77-C184-995AD8FF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3FD5-F3E7-0273-54D1-1FDB27C93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7CC2D-A791-4E3E-6D91-265B06E65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1F421-8435-A637-B198-2D094294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3A640-12F6-3740-16F2-1B06E3A9B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1EB24-ABDD-C787-FBC5-9B8F0EDC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2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E4DE-91D9-5517-62E5-30462C85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A2D6A-A6CD-6BF6-7749-BE784EA14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7968F-9661-6917-8767-7E1B8DA7E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27C62-0956-962D-8942-E8CFD3F8B9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EB474-3DFE-B312-531E-483559529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B37560-F324-08C9-9B28-0521E534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5AF06-72BA-A248-08DA-8C6A58F1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9763A2-8B83-224D-5DCF-AAF24D7D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80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8D6FD-FCC6-BF4C-8053-A9D96C6BA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CFD8D-E2CD-C985-4127-F090A37B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D0B87-C0C7-D3E4-B5BC-7407416A2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AE6C1-AC65-15A8-57C1-332A8550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477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DB7E6-ECE6-C927-61E8-F9A1320F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5FF11-6D08-A33B-F6C4-DF5DFD6D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0736E-025E-F21F-30EE-E68AFF7F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74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009C-79B8-3901-F173-FACF38366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9137-42D1-A99D-771D-F2CF3C6FC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497CDD-A42A-27E6-F717-620283D67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D7D8A-4288-5326-E05C-9B711C1C0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4C066-CD7F-6665-180A-0FE9B2F2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5E3EF-2167-D527-B077-A885DEEE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66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8102-324E-6552-AE3B-C661CC53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03D94-DFDA-C44E-FAD3-54ECE37FF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67DAB-C2FC-B47B-99EC-AC8292671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439C5-F92B-70B8-313D-BD3064D0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FBFF1-0783-6EE9-A3E6-DE536902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518B3-40CE-0D63-6B82-DD5D085E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843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A0F5-D7F6-1932-668B-1100BF4D7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01C26-426D-EFE8-DFD4-2E2592327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A3704-B40C-8953-2F78-457E1E51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7708F-3730-C19C-4C5D-5513006A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15C36-CF85-5D5F-E8C6-8993E307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61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C96D0-B120-58AB-35D3-ABBCE5144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19104-578D-05CB-A5EA-338CA6538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AD742-953E-057C-1C3A-49C16718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DD1B1-A0EB-1137-418B-3FFA65F2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B810-D3CC-1196-1777-18B39628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02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55CA69-AD9E-5AFB-1473-BF26D84A9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7FBE3-909F-B854-8B0F-4D20046E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CF882-B15B-0171-5BBD-BEEE8D5DF9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D28CB-B14E-474E-A44D-BB4E1366BDC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6265D-84A0-9C90-5FE5-D0EB2C83D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DB8A6-160E-451D-9BEC-4757F0573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CD4B1-937A-4421-B47F-752AE13E58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974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9766-5739-A011-944C-A3B2D1E2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7966-739B-19CD-EBE3-3E7182D0B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7" y="1122362"/>
            <a:ext cx="11733149" cy="4848670"/>
          </a:xfrm>
        </p:spPr>
        <p:txBody>
          <a:bodyPr>
            <a:noAutofit/>
          </a:bodyPr>
          <a:lstStyle/>
          <a:p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br>
              <a:rPr lang="en-GB" sz="4000" dirty="0"/>
            </a:br>
            <a:r>
              <a:rPr lang="en-GB" sz="3200" dirty="0"/>
              <a:t>Capstone Project – Phase II</a:t>
            </a:r>
            <a:br>
              <a:rPr lang="en-GB" sz="4000" dirty="0"/>
            </a:br>
            <a:r>
              <a:rPr lang="en-GB" sz="3200" b="1" dirty="0"/>
              <a:t>Leveraging Landslide Detection For Remote Sensing Images using a Hybrid SAM+SWIN Transformer Model</a:t>
            </a:r>
            <a:br>
              <a:rPr lang="en-GB" sz="4000" dirty="0"/>
            </a:br>
            <a:r>
              <a:rPr lang="en-GB" sz="2400" i="1" dirty="0"/>
              <a:t>Team Details:</a:t>
            </a:r>
            <a:br>
              <a:rPr lang="en-GB" sz="2400" dirty="0"/>
            </a:br>
            <a:r>
              <a:rPr lang="en-GB" sz="2400" dirty="0"/>
              <a:t>Janhavi PG – 2022BCSE07AED495</a:t>
            </a:r>
            <a:br>
              <a:rPr lang="en-GB" sz="2400" dirty="0"/>
            </a:br>
            <a:r>
              <a:rPr lang="en-GB" sz="2400" dirty="0"/>
              <a:t>Anushka Reddy – 2022BCSE07AED639</a:t>
            </a:r>
            <a:br>
              <a:rPr lang="en-GB" sz="2400" dirty="0"/>
            </a:br>
            <a:r>
              <a:rPr lang="en-GB" sz="2400" dirty="0"/>
              <a:t>Shriraj Nandkishor Pardeshi – 2022BCSE07AED633</a:t>
            </a:r>
            <a:br>
              <a:rPr lang="en-GB" sz="2400" dirty="0"/>
            </a:br>
            <a:r>
              <a:rPr lang="en-GB" sz="2400" dirty="0"/>
              <a:t>B </a:t>
            </a:r>
            <a:r>
              <a:rPr lang="en-GB" sz="2400" dirty="0" err="1"/>
              <a:t>Purushotham</a:t>
            </a:r>
            <a:r>
              <a:rPr lang="en-GB" sz="2400" dirty="0"/>
              <a:t> – 2022BCSE07AED758</a:t>
            </a:r>
            <a:br>
              <a:rPr lang="en-GB" sz="4000" dirty="0"/>
            </a:br>
            <a:r>
              <a:rPr lang="en-GB" sz="3200" b="1" dirty="0"/>
              <a:t>Guided by: Dr. A Ezil Sam Leni</a:t>
            </a:r>
            <a:br>
              <a:rPr lang="en-GB" sz="4000" dirty="0"/>
            </a:br>
            <a:endParaRPr lang="en-GB" sz="4000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9B8B568-C7BD-2F8A-2AFC-09DDFA2500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227" y="65151"/>
            <a:ext cx="5129530" cy="9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7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BBA44-55D1-C20D-1ACD-CBEEC84C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10515600" cy="887751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A90A4-64A2-BE44-FC18-4B6F8DFB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042"/>
            <a:ext cx="10515600" cy="5022957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Landslides are a major natural hazard requiring rapid mapping for risk mitigation</a:t>
            </a:r>
          </a:p>
          <a:p>
            <a:pPr algn="just"/>
            <a:r>
              <a:rPr lang="en-GB" dirty="0"/>
              <a:t>Remote sensing-based detection is challenging due to:</a:t>
            </a:r>
          </a:p>
          <a:p>
            <a:pPr lvl="1" algn="just"/>
            <a:r>
              <a:rPr lang="en-GB" dirty="0"/>
              <a:t>Complex terrain and mixed land cover</a:t>
            </a:r>
          </a:p>
          <a:p>
            <a:pPr lvl="1" algn="just"/>
            <a:r>
              <a:rPr lang="en-GB" dirty="0"/>
              <a:t>Lighting and seasonal variations</a:t>
            </a:r>
          </a:p>
          <a:p>
            <a:pPr lvl="1" algn="just"/>
            <a:r>
              <a:rPr lang="en-GB" dirty="0"/>
              <a:t>Limited labelled/annotated datasets</a:t>
            </a:r>
          </a:p>
          <a:p>
            <a:pPr algn="just"/>
            <a:r>
              <a:rPr lang="en-GB" b="1" dirty="0"/>
              <a:t>Goal: </a:t>
            </a:r>
            <a:r>
              <a:rPr lang="en-GB" dirty="0"/>
              <a:t>automated, precise landslide segmentation from satellite imagery</a:t>
            </a:r>
          </a:p>
          <a:p>
            <a:pPr algn="just"/>
            <a:r>
              <a:rPr lang="en-GB" b="1" dirty="0"/>
              <a:t>Approach: </a:t>
            </a:r>
            <a:r>
              <a:rPr lang="en-GB" dirty="0"/>
              <a:t>hybrid SAM + Swin Transformer architecture</a:t>
            </a:r>
          </a:p>
          <a:p>
            <a:pPr algn="just"/>
            <a:r>
              <a:rPr lang="en-GB" b="1" dirty="0"/>
              <a:t>Outcome: </a:t>
            </a:r>
            <a:r>
              <a:rPr lang="en-GB" dirty="0"/>
              <a:t>improved detection accuracy and better generalization across regions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0D45D63-5C47-6056-64BF-EE8ED67B5D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0" y="0"/>
            <a:ext cx="4800030" cy="8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34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A58D-468B-33E6-AAA1-FD093129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369E080-C747-0FDF-D378-D901C69496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0" y="0"/>
            <a:ext cx="4800030" cy="887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5D7AA7-CBA9-4519-C841-6243BF599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6293"/>
            <a:ext cx="10515600" cy="774827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Existing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FD42-CFFF-5633-D481-7B9A19D2F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dirty="0"/>
          </a:p>
          <a:p>
            <a:pPr algn="just"/>
            <a:r>
              <a:rPr lang="en-US" b="1" i="1" u="sng" dirty="0"/>
              <a:t>Traditional ML Methods: </a:t>
            </a:r>
            <a:r>
              <a:rPr lang="en-US" dirty="0"/>
              <a:t>Use manually engineered features and classifiers; limited scalability and poor performance in complex and heterogeneous landscapes.</a:t>
            </a:r>
          </a:p>
          <a:p>
            <a:pPr algn="just"/>
            <a:r>
              <a:rPr lang="en-US" b="1" i="1" u="sng" dirty="0"/>
              <a:t>CNN-based Models: </a:t>
            </a:r>
            <a:r>
              <a:rPr lang="en-US" dirty="0"/>
              <a:t>Effectively capture local spatial features and textures but struggle with long-range contextual relationships and precise boundary delineation.</a:t>
            </a:r>
          </a:p>
          <a:p>
            <a:pPr algn="just"/>
            <a:r>
              <a:rPr lang="en-US" b="1" i="1" u="sng" dirty="0"/>
              <a:t>Transformer-based Models: </a:t>
            </a:r>
            <a:r>
              <a:rPr lang="en-US" dirty="0"/>
              <a:t>Improve global context modeling through attention mechanisms but often face challenges in boundary localization and computational efficiency.</a:t>
            </a:r>
          </a:p>
          <a:p>
            <a:pPr algn="just"/>
            <a:r>
              <a:rPr lang="en-US" b="1" i="1" u="sng" dirty="0"/>
              <a:t>Hybrid CNN–Transformer Models: </a:t>
            </a:r>
            <a:r>
              <a:rPr lang="en-US" dirty="0"/>
              <a:t>Combine local and global feature learning and show improved performance, though boundary ambiguity and generalization across regions remain open challenges.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953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5898-C0DF-2DB8-52D6-BD883DA3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281E1-187A-C866-137D-DFBC53F6D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751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0AAE-4E82-AC1A-A38A-8560E9EF7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559"/>
            <a:ext cx="10826262" cy="5060315"/>
          </a:xfrm>
        </p:spPr>
        <p:txBody>
          <a:bodyPr>
            <a:normAutofit/>
          </a:bodyPr>
          <a:lstStyle/>
          <a:p>
            <a:pPr algn="just"/>
            <a:r>
              <a:rPr lang="en-GB" b="1" i="1" u="sng" dirty="0"/>
              <a:t>Input: </a:t>
            </a:r>
            <a:r>
              <a:rPr lang="en-GB" dirty="0"/>
              <a:t>Remote sensing satellite images.</a:t>
            </a:r>
          </a:p>
          <a:p>
            <a:pPr algn="just"/>
            <a:r>
              <a:rPr lang="en-GB" b="1" i="1" u="sng" dirty="0"/>
              <a:t>Stage 1 – Region Proposal (SAM): </a:t>
            </a:r>
            <a:r>
              <a:rPr lang="en-GB" dirty="0"/>
              <a:t>generate region-level masks to isolate candidate landslide areas.</a:t>
            </a:r>
          </a:p>
          <a:p>
            <a:pPr algn="just"/>
            <a:r>
              <a:rPr lang="en-GB" b="1" u="sng" dirty="0"/>
              <a:t>Stage 2 – Feature Learning (Swin Transformer): </a:t>
            </a:r>
            <a:r>
              <a:rPr lang="en-GB" dirty="0"/>
              <a:t>learn hierarchical representations guided by SAM segments.</a:t>
            </a:r>
          </a:p>
          <a:p>
            <a:r>
              <a:rPr lang="en-GB" b="1" i="1" u="sng" dirty="0"/>
              <a:t>Stage 3 – Prediction: </a:t>
            </a:r>
            <a:r>
              <a:rPr lang="en-GB" dirty="0"/>
              <a:t>produce landslide  classification/segmentation output (mask + overlay).</a:t>
            </a:r>
          </a:p>
          <a:p>
            <a:pPr algn="just"/>
            <a:r>
              <a:rPr lang="en-GB" b="1" i="1" u="sng" dirty="0"/>
              <a:t>Noise Suppression:</a:t>
            </a:r>
            <a:r>
              <a:rPr lang="en-GB" dirty="0"/>
              <a:t> reduce background/irrelevant regions using SAM-based masking.</a:t>
            </a:r>
          </a:p>
          <a:p>
            <a:pPr algn="just"/>
            <a:r>
              <a:rPr lang="en-GB" b="1" i="1" u="sng" dirty="0"/>
              <a:t>Evaluation: </a:t>
            </a:r>
            <a:r>
              <a:rPr lang="en-GB" dirty="0"/>
              <a:t>compare Swin-only vs SAM + Swin using </a:t>
            </a:r>
            <a:r>
              <a:rPr lang="en-GB" dirty="0" err="1"/>
              <a:t>IoU</a:t>
            </a:r>
            <a:r>
              <a:rPr lang="en-GB" dirty="0"/>
              <a:t>, Dice/F1, Precision, Recall.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8232C17-6317-CBD7-EE64-0A4D6AFD98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970" y="0"/>
            <a:ext cx="4800030" cy="88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70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03D6-F3AE-A61D-A5E1-B901D36E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Architecture of the Proposed Work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952BA3A-39F6-F303-3FFB-8558448C4A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182" y="0"/>
            <a:ext cx="3667818" cy="678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E311FF-EEAA-A600-6E3C-3A9EB8299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69309"/>
            <a:ext cx="6180438" cy="47425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E1EBFC-ABEB-B87E-A6AA-766ACE44D244}"/>
              </a:ext>
            </a:extLst>
          </p:cNvPr>
          <p:cNvSpPr txBox="1"/>
          <p:nvPr/>
        </p:nvSpPr>
        <p:spPr>
          <a:xfrm>
            <a:off x="7240947" y="2253728"/>
            <a:ext cx="439911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u="sng" dirty="0"/>
              <a:t>Input &amp; Preprocessing: </a:t>
            </a:r>
            <a:r>
              <a:rPr lang="en-IN" dirty="0"/>
              <a:t>satellite image → resize/normalize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u="sng" dirty="0"/>
              <a:t>Swin Backbone: </a:t>
            </a:r>
            <a:r>
              <a:rPr lang="en-IN" dirty="0"/>
              <a:t>extracts multi-scale features (F1–F4)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u="sng" dirty="0"/>
              <a:t>SAM Masks:</a:t>
            </a:r>
            <a:r>
              <a:rPr lang="en-IN" i="1" u="sng" dirty="0"/>
              <a:t> </a:t>
            </a:r>
            <a:r>
              <a:rPr lang="en-IN" dirty="0"/>
              <a:t>generates and filters ROI masks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u="sng" dirty="0"/>
              <a:t>Guided Fusion:</a:t>
            </a:r>
            <a:r>
              <a:rPr lang="en-IN" i="1" u="sng" dirty="0"/>
              <a:t> </a:t>
            </a:r>
            <a:r>
              <a:rPr lang="en-IN" dirty="0"/>
              <a:t>ROI masks focus Swin features, suppress background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u="sng" dirty="0"/>
              <a:t>Segmentation Head:</a:t>
            </a:r>
            <a:r>
              <a:rPr lang="en-IN" i="1" u="sng" dirty="0"/>
              <a:t> </a:t>
            </a:r>
            <a:r>
              <a:rPr lang="en-IN" dirty="0"/>
              <a:t>predicts final landslide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i="1" u="sng" dirty="0"/>
              <a:t>Metrics:</a:t>
            </a:r>
            <a:r>
              <a:rPr lang="en-IN" i="1" u="sng" dirty="0"/>
              <a:t> </a:t>
            </a:r>
            <a:r>
              <a:rPr lang="en-IN" dirty="0" err="1"/>
              <a:t>IoU</a:t>
            </a:r>
            <a:r>
              <a:rPr lang="en-IN" dirty="0"/>
              <a:t>, Dice/F1, Precision, Recall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633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81E5-3E4B-F901-EF0B-B2B4CB8B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2E69-C30A-9517-51B2-9BC5A0A2A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73740"/>
          </a:xfrm>
        </p:spPr>
        <p:txBody>
          <a:bodyPr>
            <a:normAutofit/>
          </a:bodyPr>
          <a:lstStyle/>
          <a:p>
            <a:r>
              <a:rPr lang="en-GB" sz="4800" dirty="0">
                <a:solidFill>
                  <a:srgbClr val="002060"/>
                </a:solidFill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CAE6-DB57-57A0-DE86-60871D03D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286"/>
            <a:ext cx="10515600" cy="3915677"/>
          </a:xfrm>
        </p:spPr>
        <p:txBody>
          <a:bodyPr>
            <a:normAutofit/>
          </a:bodyPr>
          <a:lstStyle/>
          <a:p>
            <a:pPr algn="just"/>
            <a:r>
              <a:rPr lang="en-US" sz="3200" b="1" i="1" u="sng" dirty="0"/>
              <a:t>Frontend:</a:t>
            </a:r>
            <a:r>
              <a:rPr lang="en-US" sz="3200" dirty="0"/>
              <a:t> None (Notebook-based workflow)</a:t>
            </a:r>
          </a:p>
          <a:p>
            <a:pPr algn="just"/>
            <a:r>
              <a:rPr lang="en-US" sz="3200" b="1" i="1" u="sng" dirty="0"/>
              <a:t>Backend:</a:t>
            </a:r>
            <a:r>
              <a:rPr lang="en-US" sz="3200" dirty="0"/>
              <a:t> Python (Jupyter Notebook)</a:t>
            </a:r>
          </a:p>
          <a:p>
            <a:pPr algn="just"/>
            <a:r>
              <a:rPr lang="en-US" sz="3200" b="1" i="1" u="sng" dirty="0"/>
              <a:t>Cloud Platform</a:t>
            </a:r>
            <a:r>
              <a:rPr lang="en-US" sz="3200" dirty="0"/>
              <a:t>: Kaggle (dataset sourcing)</a:t>
            </a:r>
          </a:p>
          <a:p>
            <a:pPr algn="just"/>
            <a:r>
              <a:rPr lang="en-US" sz="3200" b="1" i="1" u="sng" dirty="0"/>
              <a:t>Tools &amp; Frameworks</a:t>
            </a:r>
            <a:r>
              <a:rPr lang="en-US" sz="3200" dirty="0"/>
              <a:t>: Jupyter Notebook, Conda, TensorFlow, </a:t>
            </a:r>
            <a:r>
              <a:rPr lang="en-US" sz="3200" dirty="0" err="1"/>
              <a:t>Keras</a:t>
            </a:r>
            <a:r>
              <a:rPr lang="en-US" sz="3200" dirty="0"/>
              <a:t>, PyTorch, CUDA (GPU)</a:t>
            </a:r>
          </a:p>
          <a:p>
            <a:pPr algn="just"/>
            <a:r>
              <a:rPr lang="en-US" sz="3200" b="1" i="1" u="sng" dirty="0"/>
              <a:t>AI/ML Models</a:t>
            </a:r>
            <a:r>
              <a:rPr lang="en-US" sz="3200" dirty="0"/>
              <a:t>: Segment Anything Model (SAM), Swin Transformer, CNN Baseline Models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7B9CACB5-25BB-BF00-521E-74ABA0B52F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532" y="72420"/>
            <a:ext cx="4123468" cy="76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4A9C-9589-8B3A-7C12-943798D7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91B81-D51E-9B40-FDF1-5D749B67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760"/>
            <a:ext cx="10515600" cy="466820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Introduces a </a:t>
            </a:r>
            <a:r>
              <a:rPr lang="en-US" b="1" i="1" u="sng" dirty="0"/>
              <a:t>segmentation-assisted transformer framework</a:t>
            </a:r>
            <a:r>
              <a:rPr lang="en-US" dirty="0"/>
              <a:t>, where region-level segmentation guides feature extraction rather than acting as a standalone output.</a:t>
            </a:r>
          </a:p>
          <a:p>
            <a:pPr algn="just"/>
            <a:r>
              <a:rPr lang="en-US" dirty="0"/>
              <a:t>Leverages the </a:t>
            </a:r>
            <a:r>
              <a:rPr lang="en-US" b="1" i="1" u="sng" dirty="0"/>
              <a:t>Segment Anything Model (SAM) </a:t>
            </a:r>
            <a:r>
              <a:rPr lang="en-US" dirty="0"/>
              <a:t>to provide spatial priors, which is not commonly explored in existing landslide detection pipelines.</a:t>
            </a:r>
          </a:p>
          <a:p>
            <a:pPr algn="just"/>
            <a:r>
              <a:rPr lang="en-US" dirty="0"/>
              <a:t>Positions the </a:t>
            </a:r>
            <a:r>
              <a:rPr lang="en-US" b="1" i="1" u="sng" dirty="0"/>
              <a:t>Swin Transformer as the primary contextual backbone</a:t>
            </a:r>
            <a:r>
              <a:rPr lang="en-US" dirty="0"/>
              <a:t>, enabling hierarchical attention over segmentation-guided regions.</a:t>
            </a:r>
          </a:p>
          <a:p>
            <a:pPr algn="just"/>
            <a:r>
              <a:rPr lang="en-US" dirty="0"/>
              <a:t>Moves beyond conventional CNN–Transformer hybrids by integrating </a:t>
            </a:r>
            <a:r>
              <a:rPr lang="en-US" b="1" i="1" u="sng" dirty="0"/>
              <a:t>segmentation guidance instead of direct feature fusion.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A5E33E2-175A-53A6-3D5A-0AC4B3BC8E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532" y="72420"/>
            <a:ext cx="4123468" cy="76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62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96A6-43FC-27EF-C8C2-E33A4E0E4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Demo Screenshots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E61CB1-BB18-6D41-F710-7CAD1A596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854" y="2298357"/>
            <a:ext cx="4712945" cy="2592709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35861BA-CADE-3C21-272F-D3AD1376A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337" y="65151"/>
            <a:ext cx="4071420" cy="752996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7BC7D53-9370-4048-DAA2-692317FCF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1" y="1815286"/>
            <a:ext cx="5257800" cy="4351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6A400F-F80E-0ECC-2982-41DFFB487169}"/>
              </a:ext>
            </a:extLst>
          </p:cNvPr>
          <p:cNvSpPr txBox="1"/>
          <p:nvPr/>
        </p:nvSpPr>
        <p:spPr>
          <a:xfrm>
            <a:off x="7265773" y="5301049"/>
            <a:ext cx="3731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Landslide Region Isolation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881414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754D-8415-1C29-105C-57EF8578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Results-Graph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D24C6-78A5-E735-9143-6F7049B46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GB" dirty="0"/>
              <a:t>Performance graphs, charts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5F4CA32-C1E5-77C2-16BA-B675E8FBB8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8171E4-4266-DDD9-5683-BB9066356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30" y="2281287"/>
            <a:ext cx="5703370" cy="4030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2A606F-118E-D99C-FE77-44D1DC5A6CFA}"/>
              </a:ext>
            </a:extLst>
          </p:cNvPr>
          <p:cNvSpPr txBox="1"/>
          <p:nvPr/>
        </p:nvSpPr>
        <p:spPr>
          <a:xfrm>
            <a:off x="6229350" y="3096264"/>
            <a:ext cx="51244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Because SAM performs pixel-level segmentation, </a:t>
            </a:r>
            <a:r>
              <a:rPr lang="en-US" sz="2400" dirty="0" err="1"/>
              <a:t>IoU</a:t>
            </a:r>
            <a:r>
              <a:rPr lang="en-US" sz="2400" dirty="0"/>
              <a:t> and Dice directly evaluate mask overlap and boundary quality, which are more meaningful.</a:t>
            </a:r>
            <a:endParaRPr lang="en-GB" sz="2400" dirty="0"/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6165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D748A-03D0-BE0E-B246-5586A25F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7254-9E34-3CC1-D846-200671EDE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5776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Developed a hybrid pipeline combining SAM-based region masks with a Swin Transformer for landslide segmentation in remote sensing images</a:t>
            </a:r>
          </a:p>
          <a:p>
            <a:pPr algn="just"/>
            <a:r>
              <a:rPr lang="en-GB" dirty="0"/>
              <a:t>SAM helps highlight candidate landslide regions and suppress background noise; Swin improves hierarchical feature learning</a:t>
            </a:r>
          </a:p>
          <a:p>
            <a:pPr algn="just"/>
            <a:r>
              <a:rPr lang="en-GB" dirty="0"/>
              <a:t>Comparative evaluation planned/performed against standalone Swin Transformer using </a:t>
            </a:r>
            <a:r>
              <a:rPr lang="en-GB" dirty="0" err="1"/>
              <a:t>IoU</a:t>
            </a:r>
            <a:r>
              <a:rPr lang="en-GB" dirty="0"/>
              <a:t>, Dice/F1, Precision, Recall</a:t>
            </a:r>
          </a:p>
          <a:p>
            <a:pPr algn="just"/>
            <a:r>
              <a:rPr lang="en-GB" b="1" i="1" u="sng" dirty="0"/>
              <a:t>Future Scope 1:</a:t>
            </a:r>
            <a:r>
              <a:rPr lang="en-GB" dirty="0"/>
              <a:t> expand to larger multi-region datasets and handle domain shifts (season, illumination, sensor differences)</a:t>
            </a:r>
          </a:p>
          <a:p>
            <a:pPr algn="just"/>
            <a:r>
              <a:rPr lang="en-GB" b="1" i="1" u="sng" dirty="0"/>
              <a:t>Future Scope 2:</a:t>
            </a:r>
            <a:r>
              <a:rPr lang="en-GB" dirty="0"/>
              <a:t> explore SAM prompt strategies/fine-tuning + post-processing to reduce false positives</a:t>
            </a:r>
          </a:p>
          <a:p>
            <a:pPr algn="just"/>
            <a:r>
              <a:rPr lang="en-GB" b="1" i="1" u="sng" dirty="0"/>
              <a:t>Future Scope 3:</a:t>
            </a:r>
            <a:r>
              <a:rPr lang="en-GB" dirty="0"/>
              <a:t> optimize inference for scalable/near real-time deployment on large satellite scenes</a:t>
            </a:r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0A605BCA-1BDC-5AEF-25F5-74A0D0E0FB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580" y="74777"/>
            <a:ext cx="4071420" cy="75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4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662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          Capstone Project – Phase II Leveraging Landslide Detection For Remote Sensing Images using a Hybrid SAM+SWIN Transformer Model Team Details: Janhavi PG – 2022BCSE07AED495 Anushka Reddy – 2022BCSE07AED639 Shriraj Nandkishor Pardeshi – 2022BCSE07AED633 B Purushotham – 2022BCSE07AED758 Guided by: Dr. A Ezil Sam Leni </vt:lpstr>
      <vt:lpstr>Problem Statement</vt:lpstr>
      <vt:lpstr>Existing Systems</vt:lpstr>
      <vt:lpstr>Proposed System</vt:lpstr>
      <vt:lpstr>Architecture of the Proposed Work</vt:lpstr>
      <vt:lpstr>Technology Stack</vt:lpstr>
      <vt:lpstr>Key Features</vt:lpstr>
      <vt:lpstr>Demo Screenshots</vt:lpstr>
      <vt:lpstr>Results-Graph 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Madheswari</dc:creator>
  <cp:lastModifiedBy>ANUSHKA REDDY</cp:lastModifiedBy>
  <cp:revision>23</cp:revision>
  <dcterms:created xsi:type="dcterms:W3CDTF">2026-02-09T10:01:01Z</dcterms:created>
  <dcterms:modified xsi:type="dcterms:W3CDTF">2026-03-05T06:22:48Z</dcterms:modified>
</cp:coreProperties>
</file>